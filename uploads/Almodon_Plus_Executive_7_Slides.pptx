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 w="12700">
            <a:solidFill>
              <a:srgbClr val="F7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CF29"/>
          </a:solidFill>
          <a:ln w="12700">
            <a:solidFill>
              <a:srgbClr val="FFCF2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93776" y="402336"/>
            <a:ext cx="6656832" cy="6016752"/>
          </a:xfrm>
          <a:prstGeom prst="roundRect">
            <a:avLst>
              <a:gd name="adj" fmla="val 3495"/>
            </a:avLst>
          </a:prstGeom>
          <a:solidFill>
            <a:srgbClr val="0C1631"/>
          </a:solidFill>
          <a:ln w="12700">
            <a:solidFill>
              <a:srgbClr val="0C163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0" y="384048"/>
            <a:ext cx="1920240" cy="1920240"/>
          </a:xfrm>
          <a:prstGeom prst="ellipse">
            <a:avLst/>
          </a:prstGeom>
          <a:solidFill>
            <a:srgbClr val="152545"/>
          </a:solidFill>
          <a:ln w="12700">
            <a:solidFill>
              <a:srgbClr val="152545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16752" y="4123944"/>
            <a:ext cx="1417320" cy="1417320"/>
          </a:xfrm>
          <a:prstGeom prst="ellipse">
            <a:avLst/>
          </a:prstGeom>
          <a:solidFill>
            <a:srgbClr val="172747"/>
          </a:solidFill>
          <a:ln w="12700">
            <a:solidFill>
              <a:srgbClr val="172747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01334" y="1024128"/>
            <a:ext cx="150876" cy="685800"/>
          </a:xfrm>
          <a:prstGeom prst="rect">
            <a:avLst/>
          </a:prstGeom>
          <a:solidFill>
            <a:srgbClr val="FFCF29"/>
          </a:solidFill>
          <a:ln w="12700">
            <a:solidFill>
              <a:srgbClr val="FFCF29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33872" y="1291590"/>
            <a:ext cx="685800" cy="150876"/>
          </a:xfrm>
          <a:prstGeom prst="rect">
            <a:avLst/>
          </a:prstGeom>
          <a:solidFill>
            <a:srgbClr val="FFCF29"/>
          </a:solidFill>
          <a:ln w="12700">
            <a:solidFill>
              <a:srgbClr val="FFCF29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2104" y="749808"/>
            <a:ext cx="45720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spc="12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ALMODON  PLUS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3816" y="1417320"/>
            <a:ext cx="593445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Almodon.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ways to engage.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850392" y="3355848"/>
            <a:ext cx="5586984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D7E4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Bring discovery, programs and video playback into the main Almodon experience.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832104" y="4937760"/>
            <a:ext cx="5468112" cy="685800"/>
          </a:xfrm>
          <a:prstGeom prst="roundRect">
            <a:avLst>
              <a:gd name="adj" fmla="val 17333"/>
            </a:avLst>
          </a:prstGeom>
          <a:solidFill>
            <a:srgbClr val="163D47"/>
          </a:solidFill>
          <a:ln w="12700">
            <a:solidFill>
              <a:srgbClr val="163D4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0704" y="514807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CF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  •   APPROVE A CONTROLLED MVP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516368" y="667512"/>
            <a:ext cx="3785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C95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EXECUTIVE CASE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461504" y="1216152"/>
            <a:ext cx="4078224" cy="1261872"/>
          </a:xfrm>
          <a:prstGeom prst="roundRect">
            <a:avLst>
              <a:gd name="adj" fmla="val 10145"/>
            </a:avLst>
          </a:prstGeom>
          <a:solidFill>
            <a:srgbClr val="FFFFFF"/>
          </a:solidFill>
          <a:ln w="11430">
            <a:solidFill>
              <a:srgbClr val="DCE3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61504" y="1216152"/>
            <a:ext cx="59436" cy="1261872"/>
          </a:xfrm>
          <a:prstGeom prst="rect">
            <a:avLst/>
          </a:prstGeom>
          <a:solidFill>
            <a:srgbClr val="FFCF29"/>
          </a:solidFill>
          <a:ln w="12700">
            <a:solidFill>
              <a:srgbClr val="FFCF29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08392" y="1417320"/>
            <a:ext cx="36393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1F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REUSE THE ASSET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08392" y="1764792"/>
            <a:ext cx="3621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F6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Existing Almodon Plus programs, episodes and shorts.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461504" y="2651760"/>
            <a:ext cx="4078224" cy="1261872"/>
          </a:xfrm>
          <a:prstGeom prst="roundRect">
            <a:avLst>
              <a:gd name="adj" fmla="val 10145"/>
            </a:avLst>
          </a:prstGeom>
          <a:solidFill>
            <a:srgbClr val="FFFFFF"/>
          </a:solidFill>
          <a:ln w="11430">
            <a:solidFill>
              <a:srgbClr val="DCE3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61504" y="2651760"/>
            <a:ext cx="59436" cy="1261872"/>
          </a:xfrm>
          <a:prstGeom prst="rect">
            <a:avLst/>
          </a:prstGeom>
          <a:solidFill>
            <a:srgbClr val="1CC5C6"/>
          </a:solidFill>
          <a:ln w="12700">
            <a:solidFill>
              <a:srgbClr val="1CC5C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08392" y="2852928"/>
            <a:ext cx="36393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1F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UNIFY THE JOURNEY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08392" y="3200400"/>
            <a:ext cx="3621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F6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Homepage, programs hub and related article placements.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461504" y="4087368"/>
            <a:ext cx="4078224" cy="1261872"/>
          </a:xfrm>
          <a:prstGeom prst="roundRect">
            <a:avLst>
              <a:gd name="adj" fmla="val 10145"/>
            </a:avLst>
          </a:prstGeom>
          <a:solidFill>
            <a:srgbClr val="FFFFFF"/>
          </a:solidFill>
          <a:ln w="11430">
            <a:solidFill>
              <a:srgbClr val="DCE3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61504" y="4087368"/>
            <a:ext cx="59436" cy="1261872"/>
          </a:xfrm>
          <a:prstGeom prst="rect">
            <a:avLst/>
          </a:prstGeom>
          <a:solidFill>
            <a:srgbClr val="7567EB"/>
          </a:solidFill>
          <a:ln w="12700">
            <a:solidFill>
              <a:srgbClr val="7567EB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08392" y="4288536"/>
            <a:ext cx="36393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1F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 THE IMPACT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708392" y="4636008"/>
            <a:ext cx="3621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F6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video engagement without harming news consumption.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479792" y="582472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Approval covers MVP delivery subject to player, CMS and analytics feasibility checks; not a full platform rebuild.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 w="12700">
            <a:solidFill>
              <a:srgbClr val="F7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FFCF29"/>
          </a:solidFill>
          <a:ln w="12700">
            <a:solidFill>
              <a:srgbClr val="FFCF2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310896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spc="110" kern="0" dirty="0">
                <a:solidFill>
                  <a:srgbClr val="121F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ALMODON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066727" y="374904"/>
            <a:ext cx="36210" cy="164592"/>
          </a:xfrm>
          <a:prstGeom prst="rect">
            <a:avLst/>
          </a:prstGeom>
          <a:solidFill>
            <a:srgbClr val="FFCF29"/>
          </a:solidFill>
          <a:ln w="12700">
            <a:solidFill>
              <a:srgbClr val="FFCF2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02536" y="439095"/>
            <a:ext cx="164592" cy="36210"/>
          </a:xfrm>
          <a:prstGeom prst="rect">
            <a:avLst/>
          </a:prstGeom>
          <a:solidFill>
            <a:srgbClr val="FFCF29"/>
          </a:solidFill>
          <a:ln w="12700">
            <a:solidFill>
              <a:srgbClr val="FFCF29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932688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spc="160" kern="0" dirty="0">
                <a:solidFill>
                  <a:srgbClr val="0C95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RATIONALE &amp; PRODUCT STRATEGY</a:t>
            </a:r>
            <a:endParaRPr lang="en-US" sz="970" dirty="0"/>
          </a:p>
        </p:txBody>
      </p:sp>
      <p:sp>
        <p:nvSpPr>
          <p:cNvPr id="8" name="Text 6"/>
          <p:cNvSpPr/>
          <p:nvPr/>
        </p:nvSpPr>
        <p:spPr>
          <a:xfrm>
            <a:off x="621792" y="1216152"/>
            <a:ext cx="11000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80" b="1" dirty="0">
                <a:solidFill>
                  <a:srgbClr val="121F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bring Almodon Plus inside Almodon?</a:t>
            </a:r>
            <a:endParaRPr lang="en-US" sz="2780" dirty="0"/>
          </a:p>
        </p:txBody>
      </p:sp>
      <p:sp>
        <p:nvSpPr>
          <p:cNvPr id="9" name="Shape 7"/>
          <p:cNvSpPr/>
          <p:nvPr/>
        </p:nvSpPr>
        <p:spPr>
          <a:xfrm>
            <a:off x="621792" y="6483096"/>
            <a:ext cx="10945368" cy="0"/>
          </a:xfrm>
          <a:prstGeom prst="line">
            <a:avLst/>
          </a:prstGeom>
          <a:noFill/>
          <a:ln w="10160">
            <a:solidFill>
              <a:srgbClr val="DCE3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6547104"/>
            <a:ext cx="8229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90" kern="0" dirty="0">
                <a:solidFill>
                  <a:srgbClr val="5F6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ALMODON PLUS   /   EXECUTIVE MVP APPROVAL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789920" y="652881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F6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07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21792" y="1993392"/>
            <a:ext cx="3383280" cy="233172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1430">
            <a:solidFill>
              <a:srgbClr val="DCE3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2104" y="2212848"/>
            <a:ext cx="950976" cy="292608"/>
          </a:xfrm>
          <a:prstGeom prst="roundRect">
            <a:avLst>
              <a:gd name="adj" fmla="val 37500"/>
            </a:avLst>
          </a:prstGeom>
          <a:solidFill>
            <a:srgbClr val="EAF0FB"/>
          </a:solidFill>
          <a:ln w="12700">
            <a:solidFill>
              <a:srgbClr val="EAF0F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253996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95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32104" y="2706624"/>
            <a:ext cx="28986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1F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connected destinations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2104" y="3374136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News on Almodon; video programming on Almodon Plus. A journey between formats must be made easier.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15968" y="1993392"/>
            <a:ext cx="7196328" cy="2331720"/>
          </a:xfrm>
          <a:prstGeom prst="roundRect">
            <a:avLst>
              <a:gd name="adj" fmla="val 6667"/>
            </a:avLst>
          </a:prstGeom>
          <a:solidFill>
            <a:srgbClr val="0C1631"/>
          </a:solidFill>
          <a:ln w="12700">
            <a:solidFill>
              <a:srgbClr val="0C1631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8576" y="2221992"/>
            <a:ext cx="2286000" cy="292608"/>
          </a:xfrm>
          <a:prstGeom prst="roundRect">
            <a:avLst>
              <a:gd name="adj" fmla="val 37500"/>
            </a:avLst>
          </a:prstGeom>
          <a:solidFill>
            <a:srgbClr val="FFCF29"/>
          </a:solidFill>
          <a:ln w="12700">
            <a:solidFill>
              <a:srgbClr val="FFCF29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90872" y="2263140"/>
            <a:ext cx="2121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16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PROPOSED EXPERIENCE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99432" y="2770632"/>
            <a:ext cx="65562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 →  DISCOVER  →  WATCH  →  CONTINUE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4617720" y="3346704"/>
            <a:ext cx="6537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4E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Integrated navigation and curation + in-site video playback. Keep the current Plus infrastructure unless migration is justified later.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30936" y="4608576"/>
            <a:ext cx="3447288" cy="1161288"/>
          </a:xfrm>
          <a:prstGeom prst="roundRect">
            <a:avLst>
              <a:gd name="adj" fmla="val 12598"/>
            </a:avLst>
          </a:prstGeom>
          <a:solidFill>
            <a:srgbClr val="FFFFFF"/>
          </a:solidFill>
          <a:ln w="11430">
            <a:solidFill>
              <a:srgbClr val="DCE3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936" y="4608576"/>
            <a:ext cx="3447288" cy="73152"/>
          </a:xfrm>
          <a:prstGeom prst="rect">
            <a:avLst/>
          </a:prstGeom>
          <a:solidFill>
            <a:srgbClr val="FFCF29"/>
          </a:solidFill>
          <a:ln w="12700">
            <a:solidFill>
              <a:srgbClr val="FFCF29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" y="4818888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1F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Reach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32104" y="5148072"/>
            <a:ext cx="3063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F6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Expose existing video to Almodon readers.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361688" y="4608576"/>
            <a:ext cx="3447288" cy="1161288"/>
          </a:xfrm>
          <a:prstGeom prst="roundRect">
            <a:avLst>
              <a:gd name="adj" fmla="val 12598"/>
            </a:avLst>
          </a:prstGeom>
          <a:solidFill>
            <a:srgbClr val="FFFFFF"/>
          </a:solidFill>
          <a:ln w="11430">
            <a:solidFill>
              <a:srgbClr val="DCE3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61688" y="4608576"/>
            <a:ext cx="3447288" cy="73152"/>
          </a:xfrm>
          <a:prstGeom prst="rect">
            <a:avLst/>
          </a:prstGeom>
          <a:solidFill>
            <a:srgbClr val="1CC5C6"/>
          </a:solidFill>
          <a:ln w="12700">
            <a:solidFill>
              <a:srgbClr val="1CC5C6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62856" y="4818888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1F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Engagement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562856" y="5148072"/>
            <a:ext cx="3063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F6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cross-format journeys and watch depth.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092440" y="4608576"/>
            <a:ext cx="3410712" cy="1161288"/>
          </a:xfrm>
          <a:prstGeom prst="roundRect">
            <a:avLst>
              <a:gd name="adj" fmla="val 12598"/>
            </a:avLst>
          </a:prstGeom>
          <a:solidFill>
            <a:srgbClr val="FFFFFF"/>
          </a:solidFill>
          <a:ln w="11430">
            <a:solidFill>
              <a:srgbClr val="DCE3E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92440" y="4608576"/>
            <a:ext cx="3410712" cy="73152"/>
          </a:xfrm>
          <a:prstGeom prst="rect">
            <a:avLst/>
          </a:prstGeom>
          <a:solidFill>
            <a:srgbClr val="7567EB"/>
          </a:solidFill>
          <a:ln w="12700">
            <a:solidFill>
              <a:srgbClr val="7567EB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93608" y="4818888"/>
            <a:ext cx="3026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1F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293608" y="5148072"/>
            <a:ext cx="30266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F6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 journalism and video as one offer.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49224" y="5989320"/>
            <a:ext cx="108722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F6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 signal: Al Jazeera Net and The Guardian surface video within their news environments. Design pattern ≠ proven uplift.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 w="12700">
            <a:solidFill>
              <a:srgbClr val="F7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FFCF29"/>
          </a:solidFill>
          <a:ln w="12700">
            <a:solidFill>
              <a:srgbClr val="FFCF2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310896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spc="110" kern="0" dirty="0">
                <a:solidFill>
                  <a:srgbClr val="121F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ALMODON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066727" y="374904"/>
            <a:ext cx="36210" cy="164592"/>
          </a:xfrm>
          <a:prstGeom prst="rect">
            <a:avLst/>
          </a:prstGeom>
          <a:solidFill>
            <a:srgbClr val="FFCF29"/>
          </a:solidFill>
          <a:ln w="12700">
            <a:solidFill>
              <a:srgbClr val="FFCF2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02536" y="439095"/>
            <a:ext cx="164592" cy="36210"/>
          </a:xfrm>
          <a:prstGeom prst="rect">
            <a:avLst/>
          </a:prstGeom>
          <a:solidFill>
            <a:srgbClr val="FFCF29"/>
          </a:solidFill>
          <a:ln w="12700">
            <a:solidFill>
              <a:srgbClr val="FFCF29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932688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spc="160" kern="0" dirty="0">
                <a:solidFill>
                  <a:srgbClr val="0C95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PROPOSED UX AND CONCEPT DESIGN</a:t>
            </a:r>
            <a:endParaRPr lang="en-US" sz="970" dirty="0"/>
          </a:p>
        </p:txBody>
      </p:sp>
      <p:sp>
        <p:nvSpPr>
          <p:cNvPr id="8" name="Text 6"/>
          <p:cNvSpPr/>
          <p:nvPr/>
        </p:nvSpPr>
        <p:spPr>
          <a:xfrm>
            <a:off x="621792" y="1216152"/>
            <a:ext cx="11000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80" b="1" dirty="0">
                <a:solidFill>
                  <a:srgbClr val="121F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placements. One on-site viewing experience.</a:t>
            </a:r>
            <a:endParaRPr lang="en-US" sz="2780" dirty="0"/>
          </a:p>
        </p:txBody>
      </p:sp>
      <p:sp>
        <p:nvSpPr>
          <p:cNvPr id="9" name="Shape 7"/>
          <p:cNvSpPr/>
          <p:nvPr/>
        </p:nvSpPr>
        <p:spPr>
          <a:xfrm>
            <a:off x="621792" y="6483096"/>
            <a:ext cx="10945368" cy="0"/>
          </a:xfrm>
          <a:prstGeom prst="line">
            <a:avLst/>
          </a:prstGeom>
          <a:noFill/>
          <a:ln w="10160">
            <a:solidFill>
              <a:srgbClr val="DCE3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6547104"/>
            <a:ext cx="8229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90" kern="0" dirty="0">
                <a:solidFill>
                  <a:srgbClr val="5F6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ALMODON PLUS   /   EXECUTIVE MVP APPROVAL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789920" y="652881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F6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07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40080" y="2084832"/>
            <a:ext cx="5568696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11430">
            <a:solidFill>
              <a:srgbClr val="DCE3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084832"/>
            <a:ext cx="68580" cy="868680"/>
          </a:xfrm>
          <a:prstGeom prst="rect">
            <a:avLst/>
          </a:prstGeom>
          <a:solidFill>
            <a:srgbClr val="FFCF29"/>
          </a:solidFill>
          <a:ln w="12700">
            <a:solidFill>
              <a:srgbClr val="FFCF29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231136"/>
            <a:ext cx="14264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121F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HOMEPAGE</a:t>
            </a:r>
            <a:endParaRPr lang="en-US" sz="1380" dirty="0"/>
          </a:p>
        </p:txBody>
      </p:sp>
      <p:sp>
        <p:nvSpPr>
          <p:cNvPr id="15" name="Text 13"/>
          <p:cNvSpPr/>
          <p:nvPr/>
        </p:nvSpPr>
        <p:spPr>
          <a:xfrm>
            <a:off x="2331720" y="2203704"/>
            <a:ext cx="362102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5F6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Featured programs, shorts carousel and All Programs CTA</a:t>
            </a:r>
            <a:endParaRPr lang="en-US" sz="1280" dirty="0"/>
          </a:p>
        </p:txBody>
      </p:sp>
      <p:sp>
        <p:nvSpPr>
          <p:cNvPr id="16" name="Shape 14"/>
          <p:cNvSpPr/>
          <p:nvPr/>
        </p:nvSpPr>
        <p:spPr>
          <a:xfrm>
            <a:off x="640080" y="3136392"/>
            <a:ext cx="5568696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11430">
            <a:solidFill>
              <a:srgbClr val="DCE3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136392"/>
            <a:ext cx="68580" cy="868680"/>
          </a:xfrm>
          <a:prstGeom prst="rect">
            <a:avLst/>
          </a:prstGeom>
          <a:solidFill>
            <a:srgbClr val="1CC5C6"/>
          </a:solidFill>
          <a:ln w="12700">
            <a:solidFill>
              <a:srgbClr val="1CC5C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282696"/>
            <a:ext cx="14264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121F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PROGRAMS HUB</a:t>
            </a:r>
            <a:endParaRPr lang="en-US" sz="1380" dirty="0"/>
          </a:p>
        </p:txBody>
      </p:sp>
      <p:sp>
        <p:nvSpPr>
          <p:cNvPr id="19" name="Text 17"/>
          <p:cNvSpPr/>
          <p:nvPr/>
        </p:nvSpPr>
        <p:spPr>
          <a:xfrm>
            <a:off x="2331720" y="3255264"/>
            <a:ext cx="362102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5F6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 shows, seasons and episodes</a:t>
            </a:r>
            <a:endParaRPr lang="en-US" sz="1280" dirty="0"/>
          </a:p>
        </p:txBody>
      </p:sp>
      <p:sp>
        <p:nvSpPr>
          <p:cNvPr id="20" name="Shape 18"/>
          <p:cNvSpPr/>
          <p:nvPr/>
        </p:nvSpPr>
        <p:spPr>
          <a:xfrm>
            <a:off x="640080" y="4187952"/>
            <a:ext cx="5568696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11430">
            <a:solidFill>
              <a:srgbClr val="DCE3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4187952"/>
            <a:ext cx="68580" cy="868680"/>
          </a:xfrm>
          <a:prstGeom prst="rect">
            <a:avLst/>
          </a:prstGeom>
          <a:solidFill>
            <a:srgbClr val="7567EB"/>
          </a:solidFill>
          <a:ln w="12700">
            <a:solidFill>
              <a:srgbClr val="7567EB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334256"/>
            <a:ext cx="14264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121F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ARTICLES</a:t>
            </a:r>
            <a:endParaRPr lang="en-US" sz="1380" dirty="0"/>
          </a:p>
        </p:txBody>
      </p:sp>
      <p:sp>
        <p:nvSpPr>
          <p:cNvPr id="23" name="Text 21"/>
          <p:cNvSpPr/>
          <p:nvPr/>
        </p:nvSpPr>
        <p:spPr>
          <a:xfrm>
            <a:off x="2331720" y="4306824"/>
            <a:ext cx="362102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5F6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Relevant embedded videos chosen by editors</a:t>
            </a:r>
            <a:endParaRPr lang="en-US" sz="1280" dirty="0"/>
          </a:p>
        </p:txBody>
      </p:sp>
      <p:sp>
        <p:nvSpPr>
          <p:cNvPr id="24" name="Shape 22"/>
          <p:cNvSpPr/>
          <p:nvPr/>
        </p:nvSpPr>
        <p:spPr>
          <a:xfrm>
            <a:off x="658368" y="5321808"/>
            <a:ext cx="5541264" cy="566928"/>
          </a:xfrm>
          <a:prstGeom prst="roundRect">
            <a:avLst>
              <a:gd name="adj" fmla="val 20968"/>
            </a:avLst>
          </a:prstGeom>
          <a:solidFill>
            <a:srgbClr val="0C1631"/>
          </a:solidFill>
          <a:ln w="12700">
            <a:solidFill>
              <a:srgbClr val="0C1631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96112" y="5477256"/>
            <a:ext cx="256032" cy="256032"/>
          </a:xfrm>
          <a:prstGeom prst="ellipse">
            <a:avLst/>
          </a:prstGeom>
          <a:solidFill>
            <a:srgbClr val="FFCF29"/>
          </a:solidFill>
          <a:ln w="12700">
            <a:solidFill>
              <a:srgbClr val="FFCF29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9322" y="5546750"/>
            <a:ext cx="1005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0C16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▶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316736" y="5504688"/>
            <a:ext cx="4608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VIDEO PLAYS ON ALMODON.COM  •  NO REDIRECT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583680" y="2084832"/>
            <a:ext cx="4919472" cy="3831336"/>
          </a:xfrm>
          <a:prstGeom prst="roundRect">
            <a:avLst>
              <a:gd name="adj" fmla="val 4296"/>
            </a:avLst>
          </a:prstGeom>
          <a:solidFill>
            <a:srgbClr val="FFFFFF"/>
          </a:solidFill>
          <a:ln w="11430">
            <a:solidFill>
              <a:srgbClr val="DCE3E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12280" y="2340864"/>
            <a:ext cx="4462272" cy="2505456"/>
          </a:xfrm>
          <a:prstGeom prst="roundRect">
            <a:avLst>
              <a:gd name="adj" fmla="val 4015"/>
            </a:avLst>
          </a:prstGeom>
          <a:solidFill>
            <a:srgbClr val="EDF2F8"/>
          </a:solidFill>
          <a:ln w="12700">
            <a:solidFill>
              <a:srgbClr val="EDF2F8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13448" y="2551176"/>
            <a:ext cx="4069080" cy="320040"/>
          </a:xfrm>
          <a:prstGeom prst="roundRect">
            <a:avLst>
              <a:gd name="adj" fmla="val 17143"/>
            </a:avLst>
          </a:prstGeom>
          <a:solidFill>
            <a:srgbClr val="0C1631"/>
          </a:solidFill>
          <a:ln w="12700">
            <a:solidFill>
              <a:srgbClr val="0C1631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14616" y="2642616"/>
            <a:ext cx="15727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ALMODON +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077456" y="3099816"/>
            <a:ext cx="2322576" cy="1143000"/>
          </a:xfrm>
          <a:prstGeom prst="roundRect">
            <a:avLst>
              <a:gd name="adj" fmla="val 8000"/>
            </a:avLst>
          </a:prstGeom>
          <a:solidFill>
            <a:srgbClr val="D2DEEC"/>
          </a:solidFill>
          <a:ln w="12700">
            <a:solidFill>
              <a:srgbClr val="D2DEEC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28048" y="3099816"/>
            <a:ext cx="1298448" cy="512064"/>
          </a:xfrm>
          <a:prstGeom prst="roundRect">
            <a:avLst>
              <a:gd name="adj" fmla="val 17857"/>
            </a:avLst>
          </a:prstGeom>
          <a:solidFill>
            <a:srgbClr val="D4DFEC"/>
          </a:solidFill>
          <a:ln w="12700">
            <a:solidFill>
              <a:srgbClr val="D4DFEC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528048" y="3739896"/>
            <a:ext cx="1298448" cy="502920"/>
          </a:xfrm>
          <a:prstGeom prst="roundRect">
            <a:avLst>
              <a:gd name="adj" fmla="val 18182"/>
            </a:avLst>
          </a:prstGeom>
          <a:solidFill>
            <a:srgbClr val="D4DFEC"/>
          </a:solidFill>
          <a:ln w="12700">
            <a:solidFill>
              <a:srgbClr val="D4DFEC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14616" y="3557016"/>
            <a:ext cx="20299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F6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CONCEPT DESIGN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848856" y="5038344"/>
            <a:ext cx="1572768" cy="292608"/>
          </a:xfrm>
          <a:prstGeom prst="roundRect">
            <a:avLst>
              <a:gd name="adj" fmla="val 37500"/>
            </a:avLst>
          </a:prstGeom>
          <a:solidFill>
            <a:srgbClr val="E4F7F2"/>
          </a:solidFill>
          <a:ln w="12700">
            <a:solidFill>
              <a:srgbClr val="E4F7F2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31152" y="5079492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87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REVIEW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540496" y="5029200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21F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Paste Figma / Canva / prototype link here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812280" y="5660136"/>
            <a:ext cx="4389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84F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concept link is not yet supplied; this is an editable placeholder, not a live link.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 w="12700">
            <a:solidFill>
              <a:srgbClr val="F7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FFCF29"/>
          </a:solidFill>
          <a:ln w="12700">
            <a:solidFill>
              <a:srgbClr val="FFCF2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310896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spc="110" kern="0" dirty="0">
                <a:solidFill>
                  <a:srgbClr val="121F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ALMODON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066727" y="374904"/>
            <a:ext cx="36210" cy="164592"/>
          </a:xfrm>
          <a:prstGeom prst="rect">
            <a:avLst/>
          </a:prstGeom>
          <a:solidFill>
            <a:srgbClr val="FFCF29"/>
          </a:solidFill>
          <a:ln w="12700">
            <a:solidFill>
              <a:srgbClr val="FFCF2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02536" y="439095"/>
            <a:ext cx="164592" cy="36210"/>
          </a:xfrm>
          <a:prstGeom prst="rect">
            <a:avLst/>
          </a:prstGeom>
          <a:solidFill>
            <a:srgbClr val="FFCF29"/>
          </a:solidFill>
          <a:ln w="12700">
            <a:solidFill>
              <a:srgbClr val="FFCF29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932688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spc="160" kern="0" dirty="0">
                <a:solidFill>
                  <a:srgbClr val="0C95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SCOPE — COMMITTED PROPOSAL</a:t>
            </a:r>
            <a:endParaRPr lang="en-US" sz="970" dirty="0"/>
          </a:p>
        </p:txBody>
      </p:sp>
      <p:sp>
        <p:nvSpPr>
          <p:cNvPr id="8" name="Text 6"/>
          <p:cNvSpPr/>
          <p:nvPr/>
        </p:nvSpPr>
        <p:spPr>
          <a:xfrm>
            <a:off x="621792" y="1216152"/>
            <a:ext cx="11000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80" b="1" dirty="0">
                <a:solidFill>
                  <a:srgbClr val="121F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MVP | 12 features required to launch</a:t>
            </a:r>
            <a:endParaRPr lang="en-US" sz="2780" dirty="0"/>
          </a:p>
        </p:txBody>
      </p:sp>
      <p:sp>
        <p:nvSpPr>
          <p:cNvPr id="9" name="Shape 7"/>
          <p:cNvSpPr/>
          <p:nvPr/>
        </p:nvSpPr>
        <p:spPr>
          <a:xfrm>
            <a:off x="621792" y="6483096"/>
            <a:ext cx="10945368" cy="0"/>
          </a:xfrm>
          <a:prstGeom prst="line">
            <a:avLst/>
          </a:prstGeom>
          <a:noFill/>
          <a:ln w="10160">
            <a:solidFill>
              <a:srgbClr val="DCE3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6547104"/>
            <a:ext cx="8229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90" kern="0" dirty="0">
                <a:solidFill>
                  <a:srgbClr val="5F6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ALMODON PLUS   /   EXECUTIVE MVP APPROVAL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789920" y="652881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F6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07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94944" y="1975104"/>
            <a:ext cx="2139696" cy="292608"/>
          </a:xfrm>
          <a:prstGeom prst="roundRect">
            <a:avLst>
              <a:gd name="adj" fmla="val 37500"/>
            </a:avLst>
          </a:prstGeom>
          <a:solidFill>
            <a:srgbClr val="E4F7F2"/>
          </a:solidFill>
          <a:ln w="12700">
            <a:solidFill>
              <a:srgbClr val="E4F7F2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016252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87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 &amp; VIEWING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36208" y="1975104"/>
            <a:ext cx="2852928" cy="292608"/>
          </a:xfrm>
          <a:prstGeom prst="roundRect">
            <a:avLst>
              <a:gd name="adj" fmla="val 37500"/>
            </a:avLst>
          </a:prstGeom>
          <a:solidFill>
            <a:srgbClr val="E4F7F2"/>
          </a:solidFill>
          <a:ln w="12700">
            <a:solidFill>
              <a:srgbClr val="E4F7F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18504" y="2016252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87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EDITORIAL, CONTEXT &amp; QUALITY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9224" y="2359152"/>
            <a:ext cx="5340096" cy="59436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11430">
            <a:solidFill>
              <a:srgbClr val="DCE3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24" y="2359152"/>
            <a:ext cx="54864" cy="594360"/>
          </a:xfrm>
          <a:prstGeom prst="rect">
            <a:avLst/>
          </a:prstGeom>
          <a:solidFill>
            <a:srgbClr val="188772"/>
          </a:solidFill>
          <a:ln w="12700">
            <a:solidFill>
              <a:srgbClr val="188772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6384" y="2496312"/>
            <a:ext cx="603504" cy="292608"/>
          </a:xfrm>
          <a:prstGeom prst="roundRect">
            <a:avLst>
              <a:gd name="adj" fmla="val 37500"/>
            </a:avLst>
          </a:prstGeom>
          <a:solidFill>
            <a:srgbClr val="E4F7F2"/>
          </a:solidFill>
          <a:ln w="12700">
            <a:solidFill>
              <a:srgbClr val="E4F7F2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253746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87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M01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517904" y="2436876"/>
            <a:ext cx="43251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70" b="1" dirty="0">
                <a:solidFill>
                  <a:srgbClr val="121F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Almodon+ navigation</a:t>
            </a:r>
            <a:endParaRPr lang="en-US" sz="1370" dirty="0"/>
          </a:p>
        </p:txBody>
      </p:sp>
      <p:sp>
        <p:nvSpPr>
          <p:cNvPr id="21" name="Text 19"/>
          <p:cNvSpPr/>
          <p:nvPr/>
        </p:nvSpPr>
        <p:spPr>
          <a:xfrm>
            <a:off x="1517904" y="2685593"/>
            <a:ext cx="4315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5F6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Visible entry point in the main site navigation.</a:t>
            </a:r>
            <a:endParaRPr lang="en-US" sz="1090" dirty="0"/>
          </a:p>
        </p:txBody>
      </p:sp>
      <p:sp>
        <p:nvSpPr>
          <p:cNvPr id="22" name="Shape 20"/>
          <p:cNvSpPr/>
          <p:nvPr/>
        </p:nvSpPr>
        <p:spPr>
          <a:xfrm>
            <a:off x="649224" y="2939796"/>
            <a:ext cx="5340096" cy="59436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11430">
            <a:solidFill>
              <a:srgbClr val="DCE3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9224" y="2939796"/>
            <a:ext cx="54864" cy="594360"/>
          </a:xfrm>
          <a:prstGeom prst="rect">
            <a:avLst/>
          </a:prstGeom>
          <a:solidFill>
            <a:srgbClr val="188772"/>
          </a:solidFill>
          <a:ln w="12700">
            <a:solidFill>
              <a:srgbClr val="188772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6384" y="3076956"/>
            <a:ext cx="603504" cy="292608"/>
          </a:xfrm>
          <a:prstGeom prst="roundRect">
            <a:avLst>
              <a:gd name="adj" fmla="val 37500"/>
            </a:avLst>
          </a:prstGeom>
          <a:solidFill>
            <a:srgbClr val="E4F7F2"/>
          </a:solidFill>
          <a:ln w="12700">
            <a:solidFill>
              <a:srgbClr val="E4F7F2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311810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87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M02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517904" y="3017520"/>
            <a:ext cx="43251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70" b="1" dirty="0">
                <a:solidFill>
                  <a:srgbClr val="121F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Homepage featured module</a:t>
            </a:r>
            <a:endParaRPr lang="en-US" sz="1370" dirty="0"/>
          </a:p>
        </p:txBody>
      </p:sp>
      <p:sp>
        <p:nvSpPr>
          <p:cNvPr id="27" name="Text 25"/>
          <p:cNvSpPr/>
          <p:nvPr/>
        </p:nvSpPr>
        <p:spPr>
          <a:xfrm>
            <a:off x="1517904" y="3266237"/>
            <a:ext cx="4315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5F6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Curated programs/shorts; mobile swipe; all-programs CTA.</a:t>
            </a:r>
            <a:endParaRPr lang="en-US" sz="1090" dirty="0"/>
          </a:p>
        </p:txBody>
      </p:sp>
      <p:sp>
        <p:nvSpPr>
          <p:cNvPr id="28" name="Shape 26"/>
          <p:cNvSpPr/>
          <p:nvPr/>
        </p:nvSpPr>
        <p:spPr>
          <a:xfrm>
            <a:off x="649224" y="3520440"/>
            <a:ext cx="5340096" cy="59436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11430">
            <a:solidFill>
              <a:srgbClr val="DCE3E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9224" y="3520440"/>
            <a:ext cx="54864" cy="594360"/>
          </a:xfrm>
          <a:prstGeom prst="rect">
            <a:avLst/>
          </a:prstGeom>
          <a:solidFill>
            <a:srgbClr val="188772"/>
          </a:solidFill>
          <a:ln w="12700">
            <a:solidFill>
              <a:srgbClr val="188772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86384" y="3657600"/>
            <a:ext cx="603504" cy="292608"/>
          </a:xfrm>
          <a:prstGeom prst="roundRect">
            <a:avLst>
              <a:gd name="adj" fmla="val 37500"/>
            </a:avLst>
          </a:prstGeom>
          <a:solidFill>
            <a:srgbClr val="E4F7F2"/>
          </a:solidFill>
          <a:ln w="12700">
            <a:solidFill>
              <a:srgbClr val="E4F7F2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" y="369874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87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M03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517904" y="3598164"/>
            <a:ext cx="43251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70" b="1" dirty="0">
                <a:solidFill>
                  <a:srgbClr val="121F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Programs directory</a:t>
            </a:r>
            <a:endParaRPr lang="en-US" sz="1370" dirty="0"/>
          </a:p>
        </p:txBody>
      </p:sp>
      <p:sp>
        <p:nvSpPr>
          <p:cNvPr id="33" name="Text 31"/>
          <p:cNvSpPr/>
          <p:nvPr/>
        </p:nvSpPr>
        <p:spPr>
          <a:xfrm>
            <a:off x="1517904" y="3846881"/>
            <a:ext cx="4315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5F6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cards, imagery, latest content and responsive layout.</a:t>
            </a:r>
            <a:endParaRPr lang="en-US" sz="1090" dirty="0"/>
          </a:p>
        </p:txBody>
      </p:sp>
      <p:sp>
        <p:nvSpPr>
          <p:cNvPr id="34" name="Shape 32"/>
          <p:cNvSpPr/>
          <p:nvPr/>
        </p:nvSpPr>
        <p:spPr>
          <a:xfrm>
            <a:off x="649224" y="4101084"/>
            <a:ext cx="5340096" cy="59436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11430">
            <a:solidFill>
              <a:srgbClr val="DCE3E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9224" y="4101084"/>
            <a:ext cx="54864" cy="594360"/>
          </a:xfrm>
          <a:prstGeom prst="rect">
            <a:avLst/>
          </a:prstGeom>
          <a:solidFill>
            <a:srgbClr val="188772"/>
          </a:solidFill>
          <a:ln w="12700">
            <a:solidFill>
              <a:srgbClr val="188772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86384" y="4238244"/>
            <a:ext cx="603504" cy="292608"/>
          </a:xfrm>
          <a:prstGeom prst="roundRect">
            <a:avLst>
              <a:gd name="adj" fmla="val 37500"/>
            </a:avLst>
          </a:prstGeom>
          <a:solidFill>
            <a:srgbClr val="E4F7F2"/>
          </a:solidFill>
          <a:ln w="12700">
            <a:solidFill>
              <a:srgbClr val="E4F7F2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8680" y="427939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87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M04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517904" y="4178808"/>
            <a:ext cx="43251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70" b="1" dirty="0">
                <a:solidFill>
                  <a:srgbClr val="121F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detail &amp; episodes</a:t>
            </a:r>
            <a:endParaRPr lang="en-US" sz="1370" dirty="0"/>
          </a:p>
        </p:txBody>
      </p:sp>
      <p:sp>
        <p:nvSpPr>
          <p:cNvPr id="39" name="Text 37"/>
          <p:cNvSpPr/>
          <p:nvPr/>
        </p:nvSpPr>
        <p:spPr>
          <a:xfrm>
            <a:off x="1517904" y="4427525"/>
            <a:ext cx="4315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5F6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Synopsis, seasons and ordered episode collection.</a:t>
            </a:r>
            <a:endParaRPr lang="en-US" sz="1090" dirty="0"/>
          </a:p>
        </p:txBody>
      </p:sp>
      <p:sp>
        <p:nvSpPr>
          <p:cNvPr id="40" name="Shape 38"/>
          <p:cNvSpPr/>
          <p:nvPr/>
        </p:nvSpPr>
        <p:spPr>
          <a:xfrm>
            <a:off x="649224" y="4681728"/>
            <a:ext cx="5340096" cy="59436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11430">
            <a:solidFill>
              <a:srgbClr val="DCE3E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9224" y="4681728"/>
            <a:ext cx="54864" cy="594360"/>
          </a:xfrm>
          <a:prstGeom prst="rect">
            <a:avLst/>
          </a:prstGeom>
          <a:solidFill>
            <a:srgbClr val="188772"/>
          </a:solidFill>
          <a:ln w="12700">
            <a:solidFill>
              <a:srgbClr val="188772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86384" y="4818888"/>
            <a:ext cx="603504" cy="292608"/>
          </a:xfrm>
          <a:prstGeom prst="roundRect">
            <a:avLst>
              <a:gd name="adj" fmla="val 37500"/>
            </a:avLst>
          </a:prstGeom>
          <a:solidFill>
            <a:srgbClr val="E4F7F2"/>
          </a:solidFill>
          <a:ln w="12700">
            <a:solidFill>
              <a:srgbClr val="E4F7F2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68680" y="486003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87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M05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517904" y="4759452"/>
            <a:ext cx="43251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70" b="1" dirty="0">
                <a:solidFill>
                  <a:srgbClr val="121F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Shorts discovery</a:t>
            </a:r>
            <a:endParaRPr lang="en-US" sz="1370" dirty="0"/>
          </a:p>
        </p:txBody>
      </p:sp>
      <p:sp>
        <p:nvSpPr>
          <p:cNvPr id="45" name="Text 43"/>
          <p:cNvSpPr/>
          <p:nvPr/>
        </p:nvSpPr>
        <p:spPr>
          <a:xfrm>
            <a:off x="1517904" y="5008169"/>
            <a:ext cx="4315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5F6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Portrait-friendly content cards and in-site viewing.</a:t>
            </a:r>
            <a:endParaRPr lang="en-US" sz="1090" dirty="0"/>
          </a:p>
        </p:txBody>
      </p:sp>
      <p:sp>
        <p:nvSpPr>
          <p:cNvPr id="46" name="Shape 44"/>
          <p:cNvSpPr/>
          <p:nvPr/>
        </p:nvSpPr>
        <p:spPr>
          <a:xfrm>
            <a:off x="649224" y="5262372"/>
            <a:ext cx="5340096" cy="59436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11430">
            <a:solidFill>
              <a:srgbClr val="DCE3E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9224" y="5262372"/>
            <a:ext cx="54864" cy="594360"/>
          </a:xfrm>
          <a:prstGeom prst="rect">
            <a:avLst/>
          </a:prstGeom>
          <a:solidFill>
            <a:srgbClr val="188772"/>
          </a:solidFill>
          <a:ln w="12700">
            <a:solidFill>
              <a:srgbClr val="188772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86384" y="5399532"/>
            <a:ext cx="603504" cy="292608"/>
          </a:xfrm>
          <a:prstGeom prst="roundRect">
            <a:avLst>
              <a:gd name="adj" fmla="val 37500"/>
            </a:avLst>
          </a:prstGeom>
          <a:solidFill>
            <a:srgbClr val="E4F7F2"/>
          </a:solidFill>
          <a:ln w="12700">
            <a:solidFill>
              <a:srgbClr val="E4F7F2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68680" y="544068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87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M06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517904" y="5340096"/>
            <a:ext cx="43251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70" b="1" dirty="0">
                <a:solidFill>
                  <a:srgbClr val="121F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On-site player</a:t>
            </a:r>
            <a:endParaRPr lang="en-US" sz="1370" dirty="0"/>
          </a:p>
        </p:txBody>
      </p:sp>
      <p:sp>
        <p:nvSpPr>
          <p:cNvPr id="51" name="Text 49"/>
          <p:cNvSpPr/>
          <p:nvPr/>
        </p:nvSpPr>
        <p:spPr>
          <a:xfrm>
            <a:off x="1517904" y="5588813"/>
            <a:ext cx="4315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5F6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Responsive playback, standard controls and error states.</a:t>
            </a:r>
            <a:endParaRPr lang="en-US" sz="1090" dirty="0"/>
          </a:p>
        </p:txBody>
      </p:sp>
      <p:sp>
        <p:nvSpPr>
          <p:cNvPr id="52" name="Shape 50"/>
          <p:cNvSpPr/>
          <p:nvPr/>
        </p:nvSpPr>
        <p:spPr>
          <a:xfrm>
            <a:off x="6190488" y="2359152"/>
            <a:ext cx="5330952" cy="59436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11430">
            <a:solidFill>
              <a:srgbClr val="DCE3E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190488" y="2359152"/>
            <a:ext cx="54864" cy="594360"/>
          </a:xfrm>
          <a:prstGeom prst="rect">
            <a:avLst/>
          </a:prstGeom>
          <a:solidFill>
            <a:srgbClr val="188772"/>
          </a:solidFill>
          <a:ln w="12700">
            <a:solidFill>
              <a:srgbClr val="188772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327648" y="2496312"/>
            <a:ext cx="603504" cy="292608"/>
          </a:xfrm>
          <a:prstGeom prst="roundRect">
            <a:avLst>
              <a:gd name="adj" fmla="val 37500"/>
            </a:avLst>
          </a:prstGeom>
          <a:solidFill>
            <a:srgbClr val="E4F7F2"/>
          </a:solidFill>
          <a:ln w="12700">
            <a:solidFill>
              <a:srgbClr val="E4F7F2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09944" y="253746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87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M07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059168" y="2436876"/>
            <a:ext cx="43159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70" b="1" dirty="0">
                <a:solidFill>
                  <a:srgbClr val="121F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Article video placements</a:t>
            </a:r>
            <a:endParaRPr lang="en-US" sz="1370" dirty="0"/>
          </a:p>
        </p:txBody>
      </p:sp>
      <p:sp>
        <p:nvSpPr>
          <p:cNvPr id="57" name="Text 55"/>
          <p:cNvSpPr/>
          <p:nvPr/>
        </p:nvSpPr>
        <p:spPr>
          <a:xfrm>
            <a:off x="7059168" y="2685593"/>
            <a:ext cx="4306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5F6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Editors attach relevant shorts or episodes to stories.</a:t>
            </a:r>
            <a:endParaRPr lang="en-US" sz="1090" dirty="0"/>
          </a:p>
        </p:txBody>
      </p:sp>
      <p:sp>
        <p:nvSpPr>
          <p:cNvPr id="58" name="Shape 56"/>
          <p:cNvSpPr/>
          <p:nvPr/>
        </p:nvSpPr>
        <p:spPr>
          <a:xfrm>
            <a:off x="6190488" y="2939796"/>
            <a:ext cx="5330952" cy="59436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11430">
            <a:solidFill>
              <a:srgbClr val="DCE3E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190488" y="2939796"/>
            <a:ext cx="54864" cy="594360"/>
          </a:xfrm>
          <a:prstGeom prst="rect">
            <a:avLst/>
          </a:prstGeom>
          <a:solidFill>
            <a:srgbClr val="188772"/>
          </a:solidFill>
          <a:ln w="12700">
            <a:solidFill>
              <a:srgbClr val="188772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327648" y="3076956"/>
            <a:ext cx="603504" cy="292608"/>
          </a:xfrm>
          <a:prstGeom prst="roundRect">
            <a:avLst>
              <a:gd name="adj" fmla="val 37500"/>
            </a:avLst>
          </a:prstGeom>
          <a:solidFill>
            <a:srgbClr val="E4F7F2"/>
          </a:solidFill>
          <a:ln w="12700">
            <a:solidFill>
              <a:srgbClr val="E4F7F2">
                <a:alpha val="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09944" y="311810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87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M08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7059168" y="3017520"/>
            <a:ext cx="43159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70" b="1" dirty="0">
                <a:solidFill>
                  <a:srgbClr val="121F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Related content &amp; sharing</a:t>
            </a:r>
            <a:endParaRPr lang="en-US" sz="1370" dirty="0"/>
          </a:p>
        </p:txBody>
      </p:sp>
      <p:sp>
        <p:nvSpPr>
          <p:cNvPr id="63" name="Text 61"/>
          <p:cNvSpPr/>
          <p:nvPr/>
        </p:nvSpPr>
        <p:spPr>
          <a:xfrm>
            <a:off x="7059168" y="3266237"/>
            <a:ext cx="4306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5F6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Next/related videos, program links and share controls.</a:t>
            </a:r>
            <a:endParaRPr lang="en-US" sz="1090" dirty="0"/>
          </a:p>
        </p:txBody>
      </p:sp>
      <p:sp>
        <p:nvSpPr>
          <p:cNvPr id="64" name="Shape 62"/>
          <p:cNvSpPr/>
          <p:nvPr/>
        </p:nvSpPr>
        <p:spPr>
          <a:xfrm>
            <a:off x="6190488" y="3520440"/>
            <a:ext cx="5330952" cy="59436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11430">
            <a:solidFill>
              <a:srgbClr val="DCE3ED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190488" y="3520440"/>
            <a:ext cx="54864" cy="594360"/>
          </a:xfrm>
          <a:prstGeom prst="rect">
            <a:avLst/>
          </a:prstGeom>
          <a:solidFill>
            <a:srgbClr val="188772"/>
          </a:solidFill>
          <a:ln w="12700">
            <a:solidFill>
              <a:srgbClr val="188772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327648" y="3657600"/>
            <a:ext cx="603504" cy="292608"/>
          </a:xfrm>
          <a:prstGeom prst="roundRect">
            <a:avLst>
              <a:gd name="adj" fmla="val 37500"/>
            </a:avLst>
          </a:prstGeom>
          <a:solidFill>
            <a:srgbClr val="E4F7F2"/>
          </a:solidFill>
          <a:ln w="12700">
            <a:solidFill>
              <a:srgbClr val="E4F7F2">
                <a:alpha val="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9944" y="369874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87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M09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7059168" y="3598164"/>
            <a:ext cx="43159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70" b="1" dirty="0">
                <a:solidFill>
                  <a:srgbClr val="121F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 integration</a:t>
            </a:r>
            <a:endParaRPr lang="en-US" sz="1370" dirty="0"/>
          </a:p>
        </p:txBody>
      </p:sp>
      <p:sp>
        <p:nvSpPr>
          <p:cNvPr id="69" name="Text 67"/>
          <p:cNvSpPr/>
          <p:nvPr/>
        </p:nvSpPr>
        <p:spPr>
          <a:xfrm>
            <a:off x="7059168" y="3846881"/>
            <a:ext cx="4306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5F6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Reuse programs/episode/short metadata from one source.</a:t>
            </a:r>
            <a:endParaRPr lang="en-US" sz="1090" dirty="0"/>
          </a:p>
        </p:txBody>
      </p:sp>
      <p:sp>
        <p:nvSpPr>
          <p:cNvPr id="70" name="Shape 68"/>
          <p:cNvSpPr/>
          <p:nvPr/>
        </p:nvSpPr>
        <p:spPr>
          <a:xfrm>
            <a:off x="6190488" y="4101084"/>
            <a:ext cx="5330952" cy="59436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11430">
            <a:solidFill>
              <a:srgbClr val="DCE3ED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190488" y="4101084"/>
            <a:ext cx="54864" cy="594360"/>
          </a:xfrm>
          <a:prstGeom prst="rect">
            <a:avLst/>
          </a:prstGeom>
          <a:solidFill>
            <a:srgbClr val="188772"/>
          </a:solidFill>
          <a:ln w="12700">
            <a:solidFill>
              <a:srgbClr val="188772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327648" y="4238244"/>
            <a:ext cx="603504" cy="292608"/>
          </a:xfrm>
          <a:prstGeom prst="roundRect">
            <a:avLst>
              <a:gd name="adj" fmla="val 37500"/>
            </a:avLst>
          </a:prstGeom>
          <a:solidFill>
            <a:srgbClr val="E4F7F2"/>
          </a:solidFill>
          <a:ln w="12700">
            <a:solidFill>
              <a:srgbClr val="E4F7F2">
                <a:alpha val="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409944" y="427939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87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M10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7059168" y="4178808"/>
            <a:ext cx="43159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70" b="1" dirty="0">
                <a:solidFill>
                  <a:srgbClr val="121F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Editorial curation</a:t>
            </a:r>
            <a:endParaRPr lang="en-US" sz="1370" dirty="0"/>
          </a:p>
        </p:txBody>
      </p:sp>
      <p:sp>
        <p:nvSpPr>
          <p:cNvPr id="75" name="Text 73"/>
          <p:cNvSpPr/>
          <p:nvPr/>
        </p:nvSpPr>
        <p:spPr>
          <a:xfrm>
            <a:off x="7059168" y="4427525"/>
            <a:ext cx="4306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5F6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Feature, reorder, publish/unpublish via CMS workflow.</a:t>
            </a:r>
            <a:endParaRPr lang="en-US" sz="1090" dirty="0"/>
          </a:p>
        </p:txBody>
      </p:sp>
      <p:sp>
        <p:nvSpPr>
          <p:cNvPr id="76" name="Shape 74"/>
          <p:cNvSpPr/>
          <p:nvPr/>
        </p:nvSpPr>
        <p:spPr>
          <a:xfrm>
            <a:off x="6190488" y="4681728"/>
            <a:ext cx="5330952" cy="59436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11430">
            <a:solidFill>
              <a:srgbClr val="DCE3ED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190488" y="4681728"/>
            <a:ext cx="54864" cy="594360"/>
          </a:xfrm>
          <a:prstGeom prst="rect">
            <a:avLst/>
          </a:prstGeom>
          <a:solidFill>
            <a:srgbClr val="188772"/>
          </a:solidFill>
          <a:ln w="12700">
            <a:solidFill>
              <a:srgbClr val="188772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327648" y="4818888"/>
            <a:ext cx="603504" cy="292608"/>
          </a:xfrm>
          <a:prstGeom prst="roundRect">
            <a:avLst>
              <a:gd name="adj" fmla="val 37500"/>
            </a:avLst>
          </a:prstGeom>
          <a:solidFill>
            <a:srgbClr val="E4F7F2"/>
          </a:solidFill>
          <a:ln w="12700">
            <a:solidFill>
              <a:srgbClr val="E4F7F2">
                <a:alpha val="0"/>
              </a:srgbClr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409944" y="486003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87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M11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7059168" y="4759452"/>
            <a:ext cx="43159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70" b="1" dirty="0">
                <a:solidFill>
                  <a:srgbClr val="121F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&amp; controlled pilot</a:t>
            </a:r>
            <a:endParaRPr lang="en-US" sz="1370" dirty="0"/>
          </a:p>
        </p:txBody>
      </p:sp>
      <p:sp>
        <p:nvSpPr>
          <p:cNvPr id="81" name="Text 79"/>
          <p:cNvSpPr/>
          <p:nvPr/>
        </p:nvSpPr>
        <p:spPr>
          <a:xfrm>
            <a:off x="7059168" y="5008169"/>
            <a:ext cx="4306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5F6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impressions, starts, watch depth and site impact.</a:t>
            </a:r>
            <a:endParaRPr lang="en-US" sz="1090" dirty="0"/>
          </a:p>
        </p:txBody>
      </p:sp>
      <p:sp>
        <p:nvSpPr>
          <p:cNvPr id="82" name="Shape 80"/>
          <p:cNvSpPr/>
          <p:nvPr/>
        </p:nvSpPr>
        <p:spPr>
          <a:xfrm>
            <a:off x="6190488" y="5262372"/>
            <a:ext cx="5330952" cy="59436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11430">
            <a:solidFill>
              <a:srgbClr val="DCE3ED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190488" y="5262372"/>
            <a:ext cx="54864" cy="594360"/>
          </a:xfrm>
          <a:prstGeom prst="rect">
            <a:avLst/>
          </a:prstGeom>
          <a:solidFill>
            <a:srgbClr val="188772"/>
          </a:solidFill>
          <a:ln w="12700">
            <a:solidFill>
              <a:srgbClr val="188772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327648" y="5399532"/>
            <a:ext cx="603504" cy="292608"/>
          </a:xfrm>
          <a:prstGeom prst="roundRect">
            <a:avLst>
              <a:gd name="adj" fmla="val 37500"/>
            </a:avLst>
          </a:prstGeom>
          <a:solidFill>
            <a:srgbClr val="E4F7F2"/>
          </a:solidFill>
          <a:ln w="12700">
            <a:solidFill>
              <a:srgbClr val="E4F7F2">
                <a:alpha val="0"/>
              </a:srgbClr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409944" y="544068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87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M12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7059168" y="5340096"/>
            <a:ext cx="43159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70" b="1" dirty="0">
                <a:solidFill>
                  <a:srgbClr val="121F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quality essentials</a:t>
            </a:r>
            <a:endParaRPr lang="en-US" sz="1370" dirty="0"/>
          </a:p>
        </p:txBody>
      </p:sp>
      <p:sp>
        <p:nvSpPr>
          <p:cNvPr id="87" name="Text 85"/>
          <p:cNvSpPr/>
          <p:nvPr/>
        </p:nvSpPr>
        <p:spPr>
          <a:xfrm>
            <a:off x="7059168" y="5588813"/>
            <a:ext cx="4306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5F6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Mobile/RTL, accessibility, SEO, rights, lazy load, QA.</a:t>
            </a:r>
            <a:endParaRPr lang="en-US" sz="1090" dirty="0"/>
          </a:p>
        </p:txBody>
      </p:sp>
      <p:sp>
        <p:nvSpPr>
          <p:cNvPr id="88" name="Shape 86"/>
          <p:cNvSpPr/>
          <p:nvPr/>
        </p:nvSpPr>
        <p:spPr>
          <a:xfrm>
            <a:off x="667512" y="6007608"/>
            <a:ext cx="10835640" cy="301752"/>
          </a:xfrm>
          <a:prstGeom prst="roundRect">
            <a:avLst>
              <a:gd name="adj" fmla="val 30303"/>
            </a:avLst>
          </a:prstGeom>
          <a:solidFill>
            <a:srgbClr val="E4F7F2"/>
          </a:solidFill>
          <a:ln w="12700">
            <a:solidFill>
              <a:srgbClr val="E4F7F2">
                <a:alpha val="0"/>
              </a:srgbClr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86968" y="6080760"/>
            <a:ext cx="10451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1887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ACCEPTANCE GATE   •   No user is redirected away from Almodon to play a selected video.</a:t>
            </a:r>
            <a:endParaRPr lang="en-US" sz="11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 w="12700">
            <a:solidFill>
              <a:srgbClr val="F7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FFCF29"/>
          </a:solidFill>
          <a:ln w="12700">
            <a:solidFill>
              <a:srgbClr val="FFCF2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310896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spc="110" kern="0" dirty="0">
                <a:solidFill>
                  <a:srgbClr val="121F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ALMODON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066727" y="374904"/>
            <a:ext cx="36210" cy="164592"/>
          </a:xfrm>
          <a:prstGeom prst="rect">
            <a:avLst/>
          </a:prstGeom>
          <a:solidFill>
            <a:srgbClr val="FFCF29"/>
          </a:solidFill>
          <a:ln w="12700">
            <a:solidFill>
              <a:srgbClr val="FFCF2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02536" y="439095"/>
            <a:ext cx="164592" cy="36210"/>
          </a:xfrm>
          <a:prstGeom prst="rect">
            <a:avLst/>
          </a:prstGeom>
          <a:solidFill>
            <a:srgbClr val="FFCF29"/>
          </a:solidFill>
          <a:ln w="12700">
            <a:solidFill>
              <a:srgbClr val="FFCF29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932688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spc="160" kern="0" dirty="0">
                <a:solidFill>
                  <a:srgbClr val="0C95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ROADMAP — NOT APPROVED SCOPE</a:t>
            </a:r>
            <a:endParaRPr lang="en-US" sz="970" dirty="0"/>
          </a:p>
        </p:txBody>
      </p:sp>
      <p:sp>
        <p:nvSpPr>
          <p:cNvPr id="8" name="Text 6"/>
          <p:cNvSpPr/>
          <p:nvPr/>
        </p:nvSpPr>
        <p:spPr>
          <a:xfrm>
            <a:off x="621792" y="1216152"/>
            <a:ext cx="11000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80" b="1" dirty="0">
                <a:solidFill>
                  <a:srgbClr val="121F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MVP | 12 opportunities to prioritize from evidence</a:t>
            </a:r>
            <a:endParaRPr lang="en-US" sz="2780" dirty="0"/>
          </a:p>
        </p:txBody>
      </p:sp>
      <p:sp>
        <p:nvSpPr>
          <p:cNvPr id="9" name="Shape 7"/>
          <p:cNvSpPr/>
          <p:nvPr/>
        </p:nvSpPr>
        <p:spPr>
          <a:xfrm>
            <a:off x="621792" y="6483096"/>
            <a:ext cx="10945368" cy="0"/>
          </a:xfrm>
          <a:prstGeom prst="line">
            <a:avLst/>
          </a:prstGeom>
          <a:noFill/>
          <a:ln w="10160">
            <a:solidFill>
              <a:srgbClr val="DCE3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6547104"/>
            <a:ext cx="8229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90" kern="0" dirty="0">
                <a:solidFill>
                  <a:srgbClr val="5F6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ALMODON PLUS   /   EXECUTIVE MVP APPROVAL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789920" y="652881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F6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07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94944" y="1975104"/>
            <a:ext cx="1984248" cy="292608"/>
          </a:xfrm>
          <a:prstGeom prst="roundRect">
            <a:avLst>
              <a:gd name="adj" fmla="val 37500"/>
            </a:avLst>
          </a:prstGeom>
          <a:solidFill>
            <a:srgbClr val="EAF0FB"/>
          </a:solidFill>
          <a:ln w="12700">
            <a:solidFill>
              <a:srgbClr val="EAF0F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016252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95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VIEWER EXPERIENCE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36208" y="1975104"/>
            <a:ext cx="3172968" cy="292608"/>
          </a:xfrm>
          <a:prstGeom prst="roundRect">
            <a:avLst>
              <a:gd name="adj" fmla="val 37500"/>
            </a:avLst>
          </a:prstGeom>
          <a:solidFill>
            <a:srgbClr val="EAF0FB"/>
          </a:solidFill>
          <a:ln w="12700">
            <a:solidFill>
              <a:srgbClr val="EAF0F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18504" y="2016252"/>
            <a:ext cx="3008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95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EDITORIAL INTELLIGENCE &amp; GROWTH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9224" y="2359152"/>
            <a:ext cx="5340096" cy="59436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11430">
            <a:solidFill>
              <a:srgbClr val="DCE3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24" y="2359152"/>
            <a:ext cx="54864" cy="594360"/>
          </a:xfrm>
          <a:prstGeom prst="rect">
            <a:avLst/>
          </a:prstGeom>
          <a:solidFill>
            <a:srgbClr val="0C9599"/>
          </a:solidFill>
          <a:ln w="12700">
            <a:solidFill>
              <a:srgbClr val="0C9599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6384" y="2496312"/>
            <a:ext cx="603504" cy="292608"/>
          </a:xfrm>
          <a:prstGeom prst="roundRect">
            <a:avLst>
              <a:gd name="adj" fmla="val 37500"/>
            </a:avLst>
          </a:prstGeom>
          <a:solidFill>
            <a:srgbClr val="EAF0FB"/>
          </a:solidFill>
          <a:ln w="12700">
            <a:solidFill>
              <a:srgbClr val="EAF0F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253746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95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P01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517904" y="2436876"/>
            <a:ext cx="43251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70" b="1" dirty="0">
                <a:solidFill>
                  <a:srgbClr val="121F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Personalized discovery</a:t>
            </a:r>
            <a:endParaRPr lang="en-US" sz="1370" dirty="0"/>
          </a:p>
        </p:txBody>
      </p:sp>
      <p:sp>
        <p:nvSpPr>
          <p:cNvPr id="21" name="Text 19"/>
          <p:cNvSpPr/>
          <p:nvPr/>
        </p:nvSpPr>
        <p:spPr>
          <a:xfrm>
            <a:off x="1517904" y="2685593"/>
            <a:ext cx="4315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5F6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Suggestions based on consented interests and signals.</a:t>
            </a:r>
            <a:endParaRPr lang="en-US" sz="1090" dirty="0"/>
          </a:p>
        </p:txBody>
      </p:sp>
      <p:sp>
        <p:nvSpPr>
          <p:cNvPr id="22" name="Shape 20"/>
          <p:cNvSpPr/>
          <p:nvPr/>
        </p:nvSpPr>
        <p:spPr>
          <a:xfrm>
            <a:off x="649224" y="2939796"/>
            <a:ext cx="5340096" cy="59436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11430">
            <a:solidFill>
              <a:srgbClr val="DCE3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9224" y="2939796"/>
            <a:ext cx="54864" cy="594360"/>
          </a:xfrm>
          <a:prstGeom prst="rect">
            <a:avLst/>
          </a:prstGeom>
          <a:solidFill>
            <a:srgbClr val="0C9599"/>
          </a:solidFill>
          <a:ln w="12700">
            <a:solidFill>
              <a:srgbClr val="0C9599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6384" y="3076956"/>
            <a:ext cx="603504" cy="292608"/>
          </a:xfrm>
          <a:prstGeom prst="roundRect">
            <a:avLst>
              <a:gd name="adj" fmla="val 37500"/>
            </a:avLst>
          </a:prstGeom>
          <a:solidFill>
            <a:srgbClr val="EAF0FB"/>
          </a:solidFill>
          <a:ln w="12700">
            <a:solidFill>
              <a:srgbClr val="EAF0FB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311810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95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P02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517904" y="3017520"/>
            <a:ext cx="43251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70" b="1" dirty="0">
                <a:solidFill>
                  <a:srgbClr val="121F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Continue watching</a:t>
            </a:r>
            <a:endParaRPr lang="en-US" sz="1370" dirty="0"/>
          </a:p>
        </p:txBody>
      </p:sp>
      <p:sp>
        <p:nvSpPr>
          <p:cNvPr id="27" name="Text 25"/>
          <p:cNvSpPr/>
          <p:nvPr/>
        </p:nvSpPr>
        <p:spPr>
          <a:xfrm>
            <a:off x="1517904" y="3266237"/>
            <a:ext cx="4315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5F6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Resume across visits, subject to account strategy.</a:t>
            </a:r>
            <a:endParaRPr lang="en-US" sz="1090" dirty="0"/>
          </a:p>
        </p:txBody>
      </p:sp>
      <p:sp>
        <p:nvSpPr>
          <p:cNvPr id="28" name="Shape 26"/>
          <p:cNvSpPr/>
          <p:nvPr/>
        </p:nvSpPr>
        <p:spPr>
          <a:xfrm>
            <a:off x="649224" y="3520440"/>
            <a:ext cx="5340096" cy="59436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11430">
            <a:solidFill>
              <a:srgbClr val="DCE3E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9224" y="3520440"/>
            <a:ext cx="54864" cy="594360"/>
          </a:xfrm>
          <a:prstGeom prst="rect">
            <a:avLst/>
          </a:prstGeom>
          <a:solidFill>
            <a:srgbClr val="0C9599"/>
          </a:solidFill>
          <a:ln w="12700">
            <a:solidFill>
              <a:srgbClr val="0C9599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86384" y="3657600"/>
            <a:ext cx="603504" cy="292608"/>
          </a:xfrm>
          <a:prstGeom prst="roundRect">
            <a:avLst>
              <a:gd name="adj" fmla="val 37500"/>
            </a:avLst>
          </a:prstGeom>
          <a:solidFill>
            <a:srgbClr val="EAF0FB"/>
          </a:solidFill>
          <a:ln w="12700">
            <a:solidFill>
              <a:srgbClr val="EAF0FB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" y="369874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95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P03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517904" y="3598164"/>
            <a:ext cx="43251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70" b="1" dirty="0">
                <a:solidFill>
                  <a:srgbClr val="121F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Follow programs &amp; alerts</a:t>
            </a:r>
            <a:endParaRPr lang="en-US" sz="1370" dirty="0"/>
          </a:p>
        </p:txBody>
      </p:sp>
      <p:sp>
        <p:nvSpPr>
          <p:cNvPr id="33" name="Text 31"/>
          <p:cNvSpPr/>
          <p:nvPr/>
        </p:nvSpPr>
        <p:spPr>
          <a:xfrm>
            <a:off x="1517904" y="3846881"/>
            <a:ext cx="4315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5F6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Opt-in new-episode reminders and program follows.</a:t>
            </a:r>
            <a:endParaRPr lang="en-US" sz="1090" dirty="0"/>
          </a:p>
        </p:txBody>
      </p:sp>
      <p:sp>
        <p:nvSpPr>
          <p:cNvPr id="34" name="Shape 32"/>
          <p:cNvSpPr/>
          <p:nvPr/>
        </p:nvSpPr>
        <p:spPr>
          <a:xfrm>
            <a:off x="649224" y="4101084"/>
            <a:ext cx="5340096" cy="59436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11430">
            <a:solidFill>
              <a:srgbClr val="DCE3E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9224" y="4101084"/>
            <a:ext cx="54864" cy="594360"/>
          </a:xfrm>
          <a:prstGeom prst="rect">
            <a:avLst/>
          </a:prstGeom>
          <a:solidFill>
            <a:srgbClr val="0C9599"/>
          </a:solidFill>
          <a:ln w="12700">
            <a:solidFill>
              <a:srgbClr val="0C9599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86384" y="4238244"/>
            <a:ext cx="603504" cy="292608"/>
          </a:xfrm>
          <a:prstGeom prst="roundRect">
            <a:avLst>
              <a:gd name="adj" fmla="val 37500"/>
            </a:avLst>
          </a:prstGeom>
          <a:solidFill>
            <a:srgbClr val="EAF0FB"/>
          </a:solidFill>
          <a:ln w="12700">
            <a:solidFill>
              <a:srgbClr val="EAF0FB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8680" y="427939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95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P04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517904" y="4178808"/>
            <a:ext cx="43251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70" b="1" dirty="0">
                <a:solidFill>
                  <a:srgbClr val="121F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Immersive vertical shorts</a:t>
            </a:r>
            <a:endParaRPr lang="en-US" sz="1370" dirty="0"/>
          </a:p>
        </p:txBody>
      </p:sp>
      <p:sp>
        <p:nvSpPr>
          <p:cNvPr id="39" name="Text 37"/>
          <p:cNvSpPr/>
          <p:nvPr/>
        </p:nvSpPr>
        <p:spPr>
          <a:xfrm>
            <a:off x="1517904" y="4427525"/>
            <a:ext cx="4315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5F6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Full-screen swipe feed for portrait videos.</a:t>
            </a:r>
            <a:endParaRPr lang="en-US" sz="1090" dirty="0"/>
          </a:p>
        </p:txBody>
      </p:sp>
      <p:sp>
        <p:nvSpPr>
          <p:cNvPr id="40" name="Shape 38"/>
          <p:cNvSpPr/>
          <p:nvPr/>
        </p:nvSpPr>
        <p:spPr>
          <a:xfrm>
            <a:off x="649224" y="4681728"/>
            <a:ext cx="5340096" cy="59436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11430">
            <a:solidFill>
              <a:srgbClr val="DCE3E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9224" y="4681728"/>
            <a:ext cx="54864" cy="594360"/>
          </a:xfrm>
          <a:prstGeom prst="rect">
            <a:avLst/>
          </a:prstGeom>
          <a:solidFill>
            <a:srgbClr val="0C9599"/>
          </a:solidFill>
          <a:ln w="12700">
            <a:solidFill>
              <a:srgbClr val="0C9599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86384" y="4818888"/>
            <a:ext cx="603504" cy="292608"/>
          </a:xfrm>
          <a:prstGeom prst="roundRect">
            <a:avLst>
              <a:gd name="adj" fmla="val 37500"/>
            </a:avLst>
          </a:prstGeom>
          <a:solidFill>
            <a:srgbClr val="EAF0FB"/>
          </a:solidFill>
          <a:ln w="12700">
            <a:solidFill>
              <a:srgbClr val="EAF0FB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68680" y="486003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95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P05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517904" y="4759452"/>
            <a:ext cx="43251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70" b="1" dirty="0">
                <a:solidFill>
                  <a:srgbClr val="121F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Autoplay next / smart queue</a:t>
            </a:r>
            <a:endParaRPr lang="en-US" sz="1370" dirty="0"/>
          </a:p>
        </p:txBody>
      </p:sp>
      <p:sp>
        <p:nvSpPr>
          <p:cNvPr id="45" name="Text 43"/>
          <p:cNvSpPr/>
          <p:nvPr/>
        </p:nvSpPr>
        <p:spPr>
          <a:xfrm>
            <a:off x="1517904" y="5008169"/>
            <a:ext cx="4315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5F6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User-controlled continuous viewing suggestions.</a:t>
            </a:r>
            <a:endParaRPr lang="en-US" sz="1090" dirty="0"/>
          </a:p>
        </p:txBody>
      </p:sp>
      <p:sp>
        <p:nvSpPr>
          <p:cNvPr id="46" name="Shape 44"/>
          <p:cNvSpPr/>
          <p:nvPr/>
        </p:nvSpPr>
        <p:spPr>
          <a:xfrm>
            <a:off x="649224" y="5262372"/>
            <a:ext cx="5340096" cy="59436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11430">
            <a:solidFill>
              <a:srgbClr val="DCE3E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9224" y="5262372"/>
            <a:ext cx="54864" cy="594360"/>
          </a:xfrm>
          <a:prstGeom prst="rect">
            <a:avLst/>
          </a:prstGeom>
          <a:solidFill>
            <a:srgbClr val="0C9599"/>
          </a:solidFill>
          <a:ln w="12700">
            <a:solidFill>
              <a:srgbClr val="0C9599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86384" y="5399532"/>
            <a:ext cx="603504" cy="292608"/>
          </a:xfrm>
          <a:prstGeom prst="roundRect">
            <a:avLst>
              <a:gd name="adj" fmla="val 37500"/>
            </a:avLst>
          </a:prstGeom>
          <a:solidFill>
            <a:srgbClr val="EAF0FB"/>
          </a:solidFill>
          <a:ln w="12700">
            <a:solidFill>
              <a:srgbClr val="EAF0FB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68680" y="544068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95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P06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517904" y="5340096"/>
            <a:ext cx="43251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70" b="1" dirty="0">
                <a:solidFill>
                  <a:srgbClr val="121F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video search</a:t>
            </a:r>
            <a:endParaRPr lang="en-US" sz="1370" dirty="0"/>
          </a:p>
        </p:txBody>
      </p:sp>
      <p:sp>
        <p:nvSpPr>
          <p:cNvPr id="51" name="Text 49"/>
          <p:cNvSpPr/>
          <p:nvPr/>
        </p:nvSpPr>
        <p:spPr>
          <a:xfrm>
            <a:off x="1517904" y="5588813"/>
            <a:ext cx="4315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5F6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 by topic, presenter, show, date and type.</a:t>
            </a:r>
            <a:endParaRPr lang="en-US" sz="1090" dirty="0"/>
          </a:p>
        </p:txBody>
      </p:sp>
      <p:sp>
        <p:nvSpPr>
          <p:cNvPr id="52" name="Shape 50"/>
          <p:cNvSpPr/>
          <p:nvPr/>
        </p:nvSpPr>
        <p:spPr>
          <a:xfrm>
            <a:off x="6190488" y="2359152"/>
            <a:ext cx="5330952" cy="59436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11430">
            <a:solidFill>
              <a:srgbClr val="DCE3E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190488" y="2359152"/>
            <a:ext cx="54864" cy="594360"/>
          </a:xfrm>
          <a:prstGeom prst="rect">
            <a:avLst/>
          </a:prstGeom>
          <a:solidFill>
            <a:srgbClr val="0C9599"/>
          </a:solidFill>
          <a:ln w="12700">
            <a:solidFill>
              <a:srgbClr val="0C9599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327648" y="2496312"/>
            <a:ext cx="603504" cy="292608"/>
          </a:xfrm>
          <a:prstGeom prst="roundRect">
            <a:avLst>
              <a:gd name="adj" fmla="val 37500"/>
            </a:avLst>
          </a:prstGeom>
          <a:solidFill>
            <a:srgbClr val="EAF0FB"/>
          </a:solidFill>
          <a:ln w="12700">
            <a:solidFill>
              <a:srgbClr val="EAF0FB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09944" y="253746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95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P07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059168" y="2436876"/>
            <a:ext cx="43159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70" b="1" dirty="0">
                <a:solidFill>
                  <a:srgbClr val="121F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Dynamic article recommendations</a:t>
            </a:r>
            <a:endParaRPr lang="en-US" sz="1370" dirty="0"/>
          </a:p>
        </p:txBody>
      </p:sp>
      <p:sp>
        <p:nvSpPr>
          <p:cNvPr id="57" name="Text 55"/>
          <p:cNvSpPr/>
          <p:nvPr/>
        </p:nvSpPr>
        <p:spPr>
          <a:xfrm>
            <a:off x="7059168" y="2685593"/>
            <a:ext cx="4306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5F6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Automatically match videos to article context.</a:t>
            </a:r>
            <a:endParaRPr lang="en-US" sz="1090" dirty="0"/>
          </a:p>
        </p:txBody>
      </p:sp>
      <p:sp>
        <p:nvSpPr>
          <p:cNvPr id="58" name="Shape 56"/>
          <p:cNvSpPr/>
          <p:nvPr/>
        </p:nvSpPr>
        <p:spPr>
          <a:xfrm>
            <a:off x="6190488" y="2939796"/>
            <a:ext cx="5330952" cy="59436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11430">
            <a:solidFill>
              <a:srgbClr val="DCE3E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190488" y="2939796"/>
            <a:ext cx="54864" cy="594360"/>
          </a:xfrm>
          <a:prstGeom prst="rect">
            <a:avLst/>
          </a:prstGeom>
          <a:solidFill>
            <a:srgbClr val="0C9599"/>
          </a:solidFill>
          <a:ln w="12700">
            <a:solidFill>
              <a:srgbClr val="0C9599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327648" y="3076956"/>
            <a:ext cx="603504" cy="292608"/>
          </a:xfrm>
          <a:prstGeom prst="roundRect">
            <a:avLst>
              <a:gd name="adj" fmla="val 37500"/>
            </a:avLst>
          </a:prstGeom>
          <a:solidFill>
            <a:srgbClr val="EAF0FB"/>
          </a:solidFill>
          <a:ln w="12700">
            <a:solidFill>
              <a:srgbClr val="EAF0FB">
                <a:alpha val="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09944" y="311810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95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P08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7059168" y="3017520"/>
            <a:ext cx="43159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70" b="1" dirty="0">
                <a:solidFill>
                  <a:srgbClr val="121F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transcripts &amp; translation</a:t>
            </a:r>
            <a:endParaRPr lang="en-US" sz="1370" dirty="0"/>
          </a:p>
        </p:txBody>
      </p:sp>
      <p:sp>
        <p:nvSpPr>
          <p:cNvPr id="63" name="Text 61"/>
          <p:cNvSpPr/>
          <p:nvPr/>
        </p:nvSpPr>
        <p:spPr>
          <a:xfrm>
            <a:off x="7059168" y="3266237"/>
            <a:ext cx="4306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5F6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Captions, searchable speech and multilingual options.</a:t>
            </a:r>
            <a:endParaRPr lang="en-US" sz="1090" dirty="0"/>
          </a:p>
        </p:txBody>
      </p:sp>
      <p:sp>
        <p:nvSpPr>
          <p:cNvPr id="64" name="Shape 62"/>
          <p:cNvSpPr/>
          <p:nvPr/>
        </p:nvSpPr>
        <p:spPr>
          <a:xfrm>
            <a:off x="6190488" y="3520440"/>
            <a:ext cx="5330952" cy="59436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11430">
            <a:solidFill>
              <a:srgbClr val="DCE3ED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190488" y="3520440"/>
            <a:ext cx="54864" cy="594360"/>
          </a:xfrm>
          <a:prstGeom prst="rect">
            <a:avLst/>
          </a:prstGeom>
          <a:solidFill>
            <a:srgbClr val="0C9599"/>
          </a:solidFill>
          <a:ln w="12700">
            <a:solidFill>
              <a:srgbClr val="0C9599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327648" y="3657600"/>
            <a:ext cx="603504" cy="292608"/>
          </a:xfrm>
          <a:prstGeom prst="roundRect">
            <a:avLst>
              <a:gd name="adj" fmla="val 37500"/>
            </a:avLst>
          </a:prstGeom>
          <a:solidFill>
            <a:srgbClr val="EAF0FB"/>
          </a:solidFill>
          <a:ln w="12700">
            <a:solidFill>
              <a:srgbClr val="EAF0FB">
                <a:alpha val="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9944" y="369874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95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P09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7059168" y="3598164"/>
            <a:ext cx="43159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70" b="1" dirty="0">
                <a:solidFill>
                  <a:srgbClr val="121F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Player convenience</a:t>
            </a:r>
            <a:endParaRPr lang="en-US" sz="1370" dirty="0"/>
          </a:p>
        </p:txBody>
      </p:sp>
      <p:sp>
        <p:nvSpPr>
          <p:cNvPr id="69" name="Text 67"/>
          <p:cNvSpPr/>
          <p:nvPr/>
        </p:nvSpPr>
        <p:spPr>
          <a:xfrm>
            <a:off x="7059168" y="3846881"/>
            <a:ext cx="4306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5F6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Picture-in-picture and background audio if supported.</a:t>
            </a:r>
            <a:endParaRPr lang="en-US" sz="1090" dirty="0"/>
          </a:p>
        </p:txBody>
      </p:sp>
      <p:sp>
        <p:nvSpPr>
          <p:cNvPr id="70" name="Shape 68"/>
          <p:cNvSpPr/>
          <p:nvPr/>
        </p:nvSpPr>
        <p:spPr>
          <a:xfrm>
            <a:off x="6190488" y="4101084"/>
            <a:ext cx="5330952" cy="59436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11430">
            <a:solidFill>
              <a:srgbClr val="DCE3ED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190488" y="4101084"/>
            <a:ext cx="54864" cy="594360"/>
          </a:xfrm>
          <a:prstGeom prst="rect">
            <a:avLst/>
          </a:prstGeom>
          <a:solidFill>
            <a:srgbClr val="0C9599"/>
          </a:solidFill>
          <a:ln w="12700">
            <a:solidFill>
              <a:srgbClr val="0C9599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327648" y="4238244"/>
            <a:ext cx="603504" cy="292608"/>
          </a:xfrm>
          <a:prstGeom prst="roundRect">
            <a:avLst>
              <a:gd name="adj" fmla="val 37500"/>
            </a:avLst>
          </a:prstGeom>
          <a:solidFill>
            <a:srgbClr val="EAF0FB"/>
          </a:solidFill>
          <a:ln w="12700">
            <a:solidFill>
              <a:srgbClr val="EAF0FB">
                <a:alpha val="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409944" y="427939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95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P10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7059168" y="4178808"/>
            <a:ext cx="43159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70" b="1" dirty="0">
                <a:solidFill>
                  <a:srgbClr val="121F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Video advertising formats</a:t>
            </a:r>
            <a:endParaRPr lang="en-US" sz="1370" dirty="0"/>
          </a:p>
        </p:txBody>
      </p:sp>
      <p:sp>
        <p:nvSpPr>
          <p:cNvPr id="75" name="Text 73"/>
          <p:cNvSpPr/>
          <p:nvPr/>
        </p:nvSpPr>
        <p:spPr>
          <a:xfrm>
            <a:off x="7059168" y="4427525"/>
            <a:ext cx="4306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5F6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Sponsorship/ad formats following commercial approval.</a:t>
            </a:r>
            <a:endParaRPr lang="en-US" sz="1090" dirty="0"/>
          </a:p>
        </p:txBody>
      </p:sp>
      <p:sp>
        <p:nvSpPr>
          <p:cNvPr id="76" name="Shape 74"/>
          <p:cNvSpPr/>
          <p:nvPr/>
        </p:nvSpPr>
        <p:spPr>
          <a:xfrm>
            <a:off x="6190488" y="4681728"/>
            <a:ext cx="5330952" cy="59436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11430">
            <a:solidFill>
              <a:srgbClr val="DCE3ED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190488" y="4681728"/>
            <a:ext cx="54864" cy="594360"/>
          </a:xfrm>
          <a:prstGeom prst="rect">
            <a:avLst/>
          </a:prstGeom>
          <a:solidFill>
            <a:srgbClr val="0C9599"/>
          </a:solidFill>
          <a:ln w="12700">
            <a:solidFill>
              <a:srgbClr val="0C9599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327648" y="4818888"/>
            <a:ext cx="603504" cy="292608"/>
          </a:xfrm>
          <a:prstGeom prst="roundRect">
            <a:avLst>
              <a:gd name="adj" fmla="val 37500"/>
            </a:avLst>
          </a:prstGeom>
          <a:solidFill>
            <a:srgbClr val="EAF0FB"/>
          </a:solidFill>
          <a:ln w="12700">
            <a:solidFill>
              <a:srgbClr val="EAF0FB">
                <a:alpha val="0"/>
              </a:srgbClr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409944" y="486003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95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P11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7059168" y="4759452"/>
            <a:ext cx="43159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70" b="1" dirty="0">
                <a:solidFill>
                  <a:srgbClr val="121F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Experiments &amp; targeting</a:t>
            </a:r>
            <a:endParaRPr lang="en-US" sz="1370" dirty="0"/>
          </a:p>
        </p:txBody>
      </p:sp>
      <p:sp>
        <p:nvSpPr>
          <p:cNvPr id="81" name="Text 79"/>
          <p:cNvSpPr/>
          <p:nvPr/>
        </p:nvSpPr>
        <p:spPr>
          <a:xfrm>
            <a:off x="7059168" y="5008169"/>
            <a:ext cx="4306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5F6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content ordering, cards and personalized modules.</a:t>
            </a:r>
            <a:endParaRPr lang="en-US" sz="1090" dirty="0"/>
          </a:p>
        </p:txBody>
      </p:sp>
      <p:sp>
        <p:nvSpPr>
          <p:cNvPr id="82" name="Shape 80"/>
          <p:cNvSpPr/>
          <p:nvPr/>
        </p:nvSpPr>
        <p:spPr>
          <a:xfrm>
            <a:off x="6190488" y="5262372"/>
            <a:ext cx="5330952" cy="59436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11430">
            <a:solidFill>
              <a:srgbClr val="DCE3ED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190488" y="5262372"/>
            <a:ext cx="54864" cy="594360"/>
          </a:xfrm>
          <a:prstGeom prst="rect">
            <a:avLst/>
          </a:prstGeom>
          <a:solidFill>
            <a:srgbClr val="0C9599"/>
          </a:solidFill>
          <a:ln w="12700">
            <a:solidFill>
              <a:srgbClr val="0C9599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327648" y="5399532"/>
            <a:ext cx="603504" cy="292608"/>
          </a:xfrm>
          <a:prstGeom prst="roundRect">
            <a:avLst>
              <a:gd name="adj" fmla="val 37500"/>
            </a:avLst>
          </a:prstGeom>
          <a:solidFill>
            <a:srgbClr val="EAF0FB"/>
          </a:solidFill>
          <a:ln w="12700">
            <a:solidFill>
              <a:srgbClr val="EAF0FB">
                <a:alpha val="0"/>
              </a:srgbClr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409944" y="544068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95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P12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7059168" y="5340096"/>
            <a:ext cx="43159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70" b="1" dirty="0">
                <a:solidFill>
                  <a:srgbClr val="121F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CMS/platform consolidation</a:t>
            </a:r>
            <a:endParaRPr lang="en-US" sz="1370" dirty="0"/>
          </a:p>
        </p:txBody>
      </p:sp>
      <p:sp>
        <p:nvSpPr>
          <p:cNvPr id="87" name="Text 85"/>
          <p:cNvSpPr/>
          <p:nvPr/>
        </p:nvSpPr>
        <p:spPr>
          <a:xfrm>
            <a:off x="7059168" y="5588813"/>
            <a:ext cx="4306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5F6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Consolidate only with proven operational benefit.</a:t>
            </a:r>
            <a:endParaRPr lang="en-US" sz="1090" dirty="0"/>
          </a:p>
        </p:txBody>
      </p:sp>
      <p:sp>
        <p:nvSpPr>
          <p:cNvPr id="88" name="Shape 86"/>
          <p:cNvSpPr/>
          <p:nvPr/>
        </p:nvSpPr>
        <p:spPr>
          <a:xfrm>
            <a:off x="667512" y="6007608"/>
            <a:ext cx="10835640" cy="301752"/>
          </a:xfrm>
          <a:prstGeom prst="roundRect">
            <a:avLst>
              <a:gd name="adj" fmla="val 30303"/>
            </a:avLst>
          </a:prstGeom>
          <a:solidFill>
            <a:srgbClr val="EAF0FB"/>
          </a:solidFill>
          <a:ln w="12700">
            <a:solidFill>
              <a:srgbClr val="EAF0FB">
                <a:alpha val="0"/>
              </a:srgbClr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86968" y="6080760"/>
            <a:ext cx="10451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b="1" dirty="0">
                <a:solidFill>
                  <a:srgbClr val="0C95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PRIORITIZATION RULE   •   Evaluate post-MVP items using viewing data, editorial effort and cost — not design appeal alone.</a:t>
            </a:r>
            <a:endParaRPr lang="en-US" sz="111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 w="12700">
            <a:solidFill>
              <a:srgbClr val="F7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FFCF29"/>
          </a:solidFill>
          <a:ln w="12700">
            <a:solidFill>
              <a:srgbClr val="FFCF2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310896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spc="110" kern="0" dirty="0">
                <a:solidFill>
                  <a:srgbClr val="121F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ALMODON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066727" y="374904"/>
            <a:ext cx="36210" cy="164592"/>
          </a:xfrm>
          <a:prstGeom prst="rect">
            <a:avLst/>
          </a:prstGeom>
          <a:solidFill>
            <a:srgbClr val="FFCF29"/>
          </a:solidFill>
          <a:ln w="12700">
            <a:solidFill>
              <a:srgbClr val="FFCF2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02536" y="439095"/>
            <a:ext cx="164592" cy="36210"/>
          </a:xfrm>
          <a:prstGeom prst="rect">
            <a:avLst/>
          </a:prstGeom>
          <a:solidFill>
            <a:srgbClr val="FFCF29"/>
          </a:solidFill>
          <a:ln w="12700">
            <a:solidFill>
              <a:srgbClr val="FFCF29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932688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spc="160" kern="0" dirty="0">
                <a:solidFill>
                  <a:srgbClr val="0C95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OPERATIONS, PROOF AND RISK</a:t>
            </a:r>
            <a:endParaRPr lang="en-US" sz="970" dirty="0"/>
          </a:p>
        </p:txBody>
      </p:sp>
      <p:sp>
        <p:nvSpPr>
          <p:cNvPr id="8" name="Text 6"/>
          <p:cNvSpPr/>
          <p:nvPr/>
        </p:nvSpPr>
        <p:spPr>
          <a:xfrm>
            <a:off x="621792" y="1216152"/>
            <a:ext cx="11000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80" b="1" dirty="0">
                <a:solidFill>
                  <a:srgbClr val="121F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editorial workflow. A measurable release.</a:t>
            </a:r>
            <a:endParaRPr lang="en-US" sz="2780" dirty="0"/>
          </a:p>
        </p:txBody>
      </p:sp>
      <p:sp>
        <p:nvSpPr>
          <p:cNvPr id="9" name="Shape 7"/>
          <p:cNvSpPr/>
          <p:nvPr/>
        </p:nvSpPr>
        <p:spPr>
          <a:xfrm>
            <a:off x="621792" y="6483096"/>
            <a:ext cx="10945368" cy="0"/>
          </a:xfrm>
          <a:prstGeom prst="line">
            <a:avLst/>
          </a:prstGeom>
          <a:noFill/>
          <a:ln w="10160">
            <a:solidFill>
              <a:srgbClr val="DCE3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6547104"/>
            <a:ext cx="8229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90" kern="0" dirty="0">
                <a:solidFill>
                  <a:srgbClr val="5F6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ALMODON PLUS   /   EXECUTIVE MVP APPROVAL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789920" y="652881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F6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07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04088" y="1956816"/>
            <a:ext cx="2057400" cy="292608"/>
          </a:xfrm>
          <a:prstGeom prst="roundRect">
            <a:avLst>
              <a:gd name="adj" fmla="val 37500"/>
            </a:avLst>
          </a:prstGeom>
          <a:solidFill>
            <a:srgbClr val="E4F7F2"/>
          </a:solidFill>
          <a:ln w="12700">
            <a:solidFill>
              <a:srgbClr val="E4F7F2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1997964"/>
            <a:ext cx="1892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87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 OPERATION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58368" y="2359152"/>
            <a:ext cx="3447288" cy="1335024"/>
          </a:xfrm>
          <a:prstGeom prst="roundRect">
            <a:avLst>
              <a:gd name="adj" fmla="val 10959"/>
            </a:avLst>
          </a:prstGeom>
          <a:solidFill>
            <a:srgbClr val="FFFFFF"/>
          </a:solidFill>
          <a:ln w="11430">
            <a:solidFill>
              <a:srgbClr val="DCE3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2542032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21F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EDITORIAL TEAM</a:t>
            </a:r>
            <a:endParaRPr lang="en-US" sz="1530" dirty="0"/>
          </a:p>
        </p:txBody>
      </p:sp>
      <p:sp>
        <p:nvSpPr>
          <p:cNvPr id="16" name="Text 14"/>
          <p:cNvSpPr/>
          <p:nvPr/>
        </p:nvSpPr>
        <p:spPr>
          <a:xfrm>
            <a:off x="868680" y="2935224"/>
            <a:ext cx="3035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shows, episode order, artwork and feature picks.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98264" y="2359152"/>
            <a:ext cx="3447288" cy="1335024"/>
          </a:xfrm>
          <a:prstGeom prst="roundRect">
            <a:avLst>
              <a:gd name="adj" fmla="val 10959"/>
            </a:avLst>
          </a:prstGeom>
          <a:solidFill>
            <a:srgbClr val="0C1631"/>
          </a:solidFill>
          <a:ln w="12700">
            <a:solidFill>
              <a:srgbClr val="0C1631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08576" y="2542032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FFCF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CMS / FEED</a:t>
            </a:r>
            <a:endParaRPr lang="en-US" sz="1530" dirty="0"/>
          </a:p>
        </p:txBody>
      </p:sp>
      <p:sp>
        <p:nvSpPr>
          <p:cNvPr id="19" name="Text 17"/>
          <p:cNvSpPr/>
          <p:nvPr/>
        </p:nvSpPr>
        <p:spPr>
          <a:xfrm>
            <a:off x="4608576" y="2935224"/>
            <a:ext cx="3035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9E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source of truth; no duplicate manual publishing.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138160" y="2359152"/>
            <a:ext cx="3447288" cy="1335024"/>
          </a:xfrm>
          <a:prstGeom prst="roundRect">
            <a:avLst>
              <a:gd name="adj" fmla="val 10959"/>
            </a:avLst>
          </a:prstGeom>
          <a:solidFill>
            <a:srgbClr val="FFFFFF"/>
          </a:solidFill>
          <a:ln w="11430">
            <a:solidFill>
              <a:srgbClr val="DCE3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48472" y="2542032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21F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ALMODON SITE</a:t>
            </a:r>
            <a:endParaRPr lang="en-US" sz="1530" dirty="0"/>
          </a:p>
        </p:txBody>
      </p:sp>
      <p:sp>
        <p:nvSpPr>
          <p:cNvPr id="22" name="Text 20"/>
          <p:cNvSpPr/>
          <p:nvPr/>
        </p:nvSpPr>
        <p:spPr>
          <a:xfrm>
            <a:off x="8348472" y="2935224"/>
            <a:ext cx="3035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 to homepage, hub, articles and on-site player.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04088" y="3995928"/>
            <a:ext cx="1737360" cy="292608"/>
          </a:xfrm>
          <a:prstGeom prst="roundRect">
            <a:avLst>
              <a:gd name="adj" fmla="val 37500"/>
            </a:avLst>
          </a:prstGeom>
          <a:solidFill>
            <a:srgbClr val="EAF0FB"/>
          </a:solidFill>
          <a:ln w="12700">
            <a:solidFill>
              <a:srgbClr val="EAF0F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6384" y="4037076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95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VALUE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9224" y="4398264"/>
            <a:ext cx="5239512" cy="1033272"/>
          </a:xfrm>
          <a:prstGeom prst="roundRect">
            <a:avLst>
              <a:gd name="adj" fmla="val 11504"/>
            </a:avLst>
          </a:prstGeom>
          <a:solidFill>
            <a:srgbClr val="FFFFFF"/>
          </a:solidFill>
          <a:ln w="11430">
            <a:solidFill>
              <a:srgbClr val="DCE3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4581144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1F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Qualified video engagement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41248" y="4956048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5F6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Impressions → starts → watch minutes → completion</a:t>
            </a:r>
            <a:endParaRPr lang="en-US" sz="1260" dirty="0"/>
          </a:p>
        </p:txBody>
      </p:sp>
      <p:sp>
        <p:nvSpPr>
          <p:cNvPr id="28" name="Shape 26"/>
          <p:cNvSpPr/>
          <p:nvPr/>
        </p:nvSpPr>
        <p:spPr>
          <a:xfrm>
            <a:off x="6089904" y="4398264"/>
            <a:ext cx="5413248" cy="1033272"/>
          </a:xfrm>
          <a:prstGeom prst="roundRect">
            <a:avLst>
              <a:gd name="adj" fmla="val 11504"/>
            </a:avLst>
          </a:prstGeom>
          <a:solidFill>
            <a:srgbClr val="FFFFFF"/>
          </a:solidFill>
          <a:ln w="11430">
            <a:solidFill>
              <a:srgbClr val="DCE3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0216" y="4581144"/>
            <a:ext cx="4901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1F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News-site protection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300216" y="4956048"/>
            <a:ext cx="4892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5F6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Article read depth, exits, engaged sessions, load speed</a:t>
            </a:r>
            <a:endParaRPr lang="en-US" sz="1260" dirty="0"/>
          </a:p>
        </p:txBody>
      </p:sp>
      <p:sp>
        <p:nvSpPr>
          <p:cNvPr id="31" name="Shape 29"/>
          <p:cNvSpPr/>
          <p:nvPr/>
        </p:nvSpPr>
        <p:spPr>
          <a:xfrm>
            <a:off x="667512" y="5641848"/>
            <a:ext cx="10835640" cy="539496"/>
          </a:xfrm>
          <a:prstGeom prst="roundRect">
            <a:avLst>
              <a:gd name="adj" fmla="val 16949"/>
            </a:avLst>
          </a:prstGeom>
          <a:solidFill>
            <a:srgbClr val="FFF0ED"/>
          </a:solidFill>
          <a:ln w="12700">
            <a:solidFill>
              <a:srgbClr val="FFF0ED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7824" y="576986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C84F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 GATES   •   Player embedding/rights verified   •   CMS metadata and publishing synced   •   Video events instrumented   •   Page performance protected</a:t>
            </a:r>
            <a:endParaRPr lang="en-US" sz="11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 w="12700">
            <a:solidFill>
              <a:srgbClr val="F7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FFCF29"/>
          </a:solidFill>
          <a:ln w="12700">
            <a:solidFill>
              <a:srgbClr val="FFCF2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310896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spc="110" kern="0" dirty="0">
                <a:solidFill>
                  <a:srgbClr val="121F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ALMODON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066727" y="374904"/>
            <a:ext cx="36210" cy="164592"/>
          </a:xfrm>
          <a:prstGeom prst="rect">
            <a:avLst/>
          </a:prstGeom>
          <a:solidFill>
            <a:srgbClr val="FFCF29"/>
          </a:solidFill>
          <a:ln w="12700">
            <a:solidFill>
              <a:srgbClr val="FFCF2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02536" y="439095"/>
            <a:ext cx="164592" cy="36210"/>
          </a:xfrm>
          <a:prstGeom prst="rect">
            <a:avLst/>
          </a:prstGeom>
          <a:solidFill>
            <a:srgbClr val="FFCF29"/>
          </a:solidFill>
          <a:ln w="12700">
            <a:solidFill>
              <a:srgbClr val="FFCF29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932688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spc="160" kern="0" dirty="0">
                <a:solidFill>
                  <a:srgbClr val="0C95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DECISION AND NEXT STEPS</a:t>
            </a:r>
            <a:endParaRPr lang="en-US" sz="970" dirty="0"/>
          </a:p>
        </p:txBody>
      </p:sp>
      <p:sp>
        <p:nvSpPr>
          <p:cNvPr id="8" name="Text 6"/>
          <p:cNvSpPr/>
          <p:nvPr/>
        </p:nvSpPr>
        <p:spPr>
          <a:xfrm>
            <a:off x="621792" y="1216152"/>
            <a:ext cx="11000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80" b="1" dirty="0">
                <a:solidFill>
                  <a:srgbClr val="121F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a scoped MVP — then scale on evidence</a:t>
            </a:r>
            <a:endParaRPr lang="en-US" sz="2780" dirty="0"/>
          </a:p>
        </p:txBody>
      </p:sp>
      <p:sp>
        <p:nvSpPr>
          <p:cNvPr id="9" name="Shape 7"/>
          <p:cNvSpPr/>
          <p:nvPr/>
        </p:nvSpPr>
        <p:spPr>
          <a:xfrm>
            <a:off x="621792" y="6483096"/>
            <a:ext cx="10945368" cy="0"/>
          </a:xfrm>
          <a:prstGeom prst="line">
            <a:avLst/>
          </a:prstGeom>
          <a:noFill/>
          <a:ln w="10160">
            <a:solidFill>
              <a:srgbClr val="DCE3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6547104"/>
            <a:ext cx="8229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90" kern="0" dirty="0">
                <a:solidFill>
                  <a:srgbClr val="5F6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ALMODON PLUS   /   EXECUTIVE MVP APPROVAL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789920" y="652881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F6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07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40080" y="2029968"/>
            <a:ext cx="4709160" cy="3621024"/>
          </a:xfrm>
          <a:prstGeom prst="roundRect">
            <a:avLst>
              <a:gd name="adj" fmla="val 4798"/>
            </a:avLst>
          </a:prstGeom>
          <a:solidFill>
            <a:srgbClr val="0C1631"/>
          </a:solidFill>
          <a:ln w="12700">
            <a:solidFill>
              <a:srgbClr val="0C1631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6968" y="2286000"/>
            <a:ext cx="2395728" cy="292608"/>
          </a:xfrm>
          <a:prstGeom prst="roundRect">
            <a:avLst>
              <a:gd name="adj" fmla="val 37500"/>
            </a:avLst>
          </a:prstGeom>
          <a:solidFill>
            <a:srgbClr val="FFCF29"/>
          </a:solidFill>
          <a:ln w="12700">
            <a:solidFill>
              <a:srgbClr val="FFCF29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2327148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16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APPROVAL REQUESTED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96112" y="2779776"/>
            <a:ext cx="40507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Authorize MVP design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development.</a:t>
            </a:r>
            <a:endParaRPr lang="en-US" sz="2900" dirty="0"/>
          </a:p>
        </p:txBody>
      </p:sp>
      <p:sp>
        <p:nvSpPr>
          <p:cNvPr id="16" name="Text 14"/>
          <p:cNvSpPr/>
          <p:nvPr/>
        </p:nvSpPr>
        <p:spPr>
          <a:xfrm>
            <a:off x="914400" y="4187952"/>
            <a:ext cx="39867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5E2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 on technical feasibility, engineering sizing and agreed release criteria.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751576" y="2112264"/>
            <a:ext cx="338328" cy="338328"/>
          </a:xfrm>
          <a:prstGeom prst="ellipse">
            <a:avLst/>
          </a:prstGeom>
          <a:solidFill>
            <a:srgbClr val="0C1631"/>
          </a:solidFill>
          <a:ln w="12700">
            <a:solidFill>
              <a:srgbClr val="0C1631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95467" y="2198218"/>
            <a:ext cx="256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245352" y="2066544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1F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84464" y="2029968"/>
            <a:ext cx="296265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F6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Player, rights, CMS/feed, analytics and effort sizing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5916168" y="2505456"/>
            <a:ext cx="0" cy="484632"/>
          </a:xfrm>
          <a:prstGeom prst="line">
            <a:avLst/>
          </a:prstGeom>
          <a:noFill/>
          <a:ln w="17780">
            <a:solidFill>
              <a:srgbClr val="DCE3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51576" y="3026664"/>
            <a:ext cx="338328" cy="338328"/>
          </a:xfrm>
          <a:prstGeom prst="ellipse">
            <a:avLst/>
          </a:prstGeom>
          <a:solidFill>
            <a:srgbClr val="0C1631"/>
          </a:solidFill>
          <a:ln w="12700">
            <a:solidFill>
              <a:srgbClr val="0C1631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95467" y="3112618"/>
            <a:ext cx="256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245352" y="2980944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1F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84464" y="2944368"/>
            <a:ext cx="296265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F6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Homepage, directory, articles, mobile and video UX</a:t>
            </a:r>
            <a:endParaRPr lang="en-US" sz="1220" dirty="0"/>
          </a:p>
        </p:txBody>
      </p:sp>
      <p:sp>
        <p:nvSpPr>
          <p:cNvPr id="26" name="Shape 24"/>
          <p:cNvSpPr/>
          <p:nvPr/>
        </p:nvSpPr>
        <p:spPr>
          <a:xfrm>
            <a:off x="5916168" y="3419856"/>
            <a:ext cx="0" cy="484632"/>
          </a:xfrm>
          <a:prstGeom prst="line">
            <a:avLst/>
          </a:prstGeom>
          <a:noFill/>
          <a:ln w="17780">
            <a:solidFill>
              <a:srgbClr val="DCE3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751576" y="3941064"/>
            <a:ext cx="338328" cy="338328"/>
          </a:xfrm>
          <a:prstGeom prst="ellipse">
            <a:avLst/>
          </a:prstGeom>
          <a:solidFill>
            <a:srgbClr val="0C1631"/>
          </a:solidFill>
          <a:ln w="12700">
            <a:solidFill>
              <a:srgbClr val="0C1631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95467" y="4027018"/>
            <a:ext cx="256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245352" y="3895344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1F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+ QA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284464" y="3858768"/>
            <a:ext cx="296265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F6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Integration, curation, responsive playback and events</a:t>
            </a:r>
            <a:endParaRPr lang="en-US" sz="1220" dirty="0"/>
          </a:p>
        </p:txBody>
      </p:sp>
      <p:sp>
        <p:nvSpPr>
          <p:cNvPr id="31" name="Shape 29"/>
          <p:cNvSpPr/>
          <p:nvPr/>
        </p:nvSpPr>
        <p:spPr>
          <a:xfrm>
            <a:off x="5916168" y="4334256"/>
            <a:ext cx="0" cy="484632"/>
          </a:xfrm>
          <a:prstGeom prst="line">
            <a:avLst/>
          </a:prstGeom>
          <a:noFill/>
          <a:ln w="17780">
            <a:solidFill>
              <a:srgbClr val="DCE3E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751576" y="4855464"/>
            <a:ext cx="338328" cy="338328"/>
          </a:xfrm>
          <a:prstGeom prst="ellipse">
            <a:avLst/>
          </a:prstGeom>
          <a:solidFill>
            <a:srgbClr val="188772"/>
          </a:solidFill>
          <a:ln w="12700">
            <a:solidFill>
              <a:srgbClr val="188772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95467" y="4941418"/>
            <a:ext cx="256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245352" y="4809744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1F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+ DECIDE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284464" y="4773168"/>
            <a:ext cx="296265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F6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qualified viewing vs. news-site guardrails</a:t>
            </a:r>
            <a:endParaRPr lang="en-US" sz="1220" dirty="0"/>
          </a:p>
        </p:txBody>
      </p:sp>
      <p:sp>
        <p:nvSpPr>
          <p:cNvPr id="36" name="Shape 34"/>
          <p:cNvSpPr/>
          <p:nvPr/>
        </p:nvSpPr>
        <p:spPr>
          <a:xfrm>
            <a:off x="5751576" y="5751576"/>
            <a:ext cx="5733288" cy="438912"/>
          </a:xfrm>
          <a:prstGeom prst="roundRect">
            <a:avLst>
              <a:gd name="adj" fmla="val 20833"/>
            </a:avLst>
          </a:prstGeom>
          <a:solidFill>
            <a:srgbClr val="E4F7F2"/>
          </a:solidFill>
          <a:ln w="12700">
            <a:solidFill>
              <a:srgbClr val="E4F7F2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16168" y="5861304"/>
            <a:ext cx="5358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887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 OF MVP:  subscriptions, accounts, full OTT rebuild, CMS migration.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85800" y="5998464"/>
            <a:ext cx="47000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F6D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costs, delivery dates or engagement uplift are assumed before discovery and measurement.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Fadaat Media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Almodon Plus | Seven-slide Executive MVP Proposal</dc:title>
  <dc:subject>Integrated Almodon Plus MVP and post-MVP features in seven executive slides</dc:subject>
  <dc:creator>Product Strategy</dc:creator>
  <cp:lastModifiedBy>Product Strategy</cp:lastModifiedBy>
  <cp:revision>1</cp:revision>
  <dcterms:created xsi:type="dcterms:W3CDTF">2026-10-12T06:33:45Z</dcterms:created>
  <dcterms:modified xsi:type="dcterms:W3CDTF">2026-10-12T06:33:45Z</dcterms:modified>
</cp:coreProperties>
</file>