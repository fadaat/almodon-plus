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73C3D-A49B-DD44-81E0-312C8110A753}" v="6" dt="2026-10-12T12:30:22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omani" userId="7db2dd46-e351-4fd3-9e94-aeb55a5fd800" providerId="ADAL" clId="{3E53C491-65F6-552F-8620-7FC76ED5853A}"/>
    <pc:docChg chg="undo custSel delSld modSld">
      <pc:chgData name="Mohammad Momani" userId="7db2dd46-e351-4fd3-9e94-aeb55a5fd800" providerId="ADAL" clId="{3E53C491-65F6-552F-8620-7FC76ED5853A}" dt="2026-10-12T12:32:17.006" v="89" actId="2696"/>
      <pc:docMkLst>
        <pc:docMk/>
      </pc:docMkLst>
      <pc:sldChg chg="modSp mod">
        <pc:chgData name="Mohammad Momani" userId="7db2dd46-e351-4fd3-9e94-aeb55a5fd800" providerId="ADAL" clId="{3E53C491-65F6-552F-8620-7FC76ED5853A}" dt="2026-10-12T07:28:05.061" v="30" actId="20577"/>
        <pc:sldMkLst>
          <pc:docMk/>
          <pc:sldMk cId="0" sldId="256"/>
        </pc:sldMkLst>
        <pc:spChg chg="mod">
          <ac:chgData name="Mohammad Momani" userId="7db2dd46-e351-4fd3-9e94-aeb55a5fd800" providerId="ADAL" clId="{3E53C491-65F6-552F-8620-7FC76ED5853A}" dt="2026-10-12T07:28:05.061" v="30" actId="20577"/>
          <ac:spMkLst>
            <pc:docMk/>
            <pc:sldMk cId="0" sldId="256"/>
            <ac:spMk id="22" creationId="{00000000-0000-0000-0000-000000000000}"/>
          </ac:spMkLst>
        </pc:spChg>
      </pc:sldChg>
      <pc:sldChg chg="addSp delSp modSp mod">
        <pc:chgData name="Mohammad Momani" userId="7db2dd46-e351-4fd3-9e94-aeb55a5fd800" providerId="ADAL" clId="{3E53C491-65F6-552F-8620-7FC76ED5853A}" dt="2026-10-12T12:24:06.214" v="38" actId="478"/>
        <pc:sldMkLst>
          <pc:docMk/>
          <pc:sldMk cId="0" sldId="257"/>
        </pc:sldMkLst>
        <pc:spChg chg="mod">
          <ac:chgData name="Mohammad Momani" userId="7db2dd46-e351-4fd3-9e94-aeb55a5fd800" providerId="ADAL" clId="{3E53C491-65F6-552F-8620-7FC76ED5853A}" dt="2026-10-12T07:19:18.818" v="1" actId="1410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ohammad Momani" userId="7db2dd46-e351-4fd3-9e94-aeb55a5fd800" providerId="ADAL" clId="{3E53C491-65F6-552F-8620-7FC76ED5853A}" dt="2026-10-12T07:19:14.648" v="0" actId="14100"/>
          <ac:spMkLst>
            <pc:docMk/>
            <pc:sldMk cId="0" sldId="257"/>
            <ac:spMk id="25" creationId="{00000000-0000-0000-0000-000000000000}"/>
          </ac:spMkLst>
        </pc:spChg>
        <pc:spChg chg="add del mod">
          <ac:chgData name="Mohammad Momani" userId="7db2dd46-e351-4fd3-9e94-aeb55a5fd800" providerId="ADAL" clId="{3E53C491-65F6-552F-8620-7FC76ED5853A}" dt="2026-10-12T12:24:06.214" v="38" actId="478"/>
          <ac:spMkLst>
            <pc:docMk/>
            <pc:sldMk cId="0" sldId="257"/>
            <ac:spMk id="26" creationId="{00000000-0000-0000-0000-000000000000}"/>
          </ac:spMkLst>
        </pc:spChg>
        <pc:spChg chg="add del">
          <ac:chgData name="Mohammad Momani" userId="7db2dd46-e351-4fd3-9e94-aeb55a5fd800" providerId="ADAL" clId="{3E53C491-65F6-552F-8620-7FC76ED5853A}" dt="2026-10-12T12:24:05.777" v="37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3:39.967" v="32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3:43.405" v="33" actId="478"/>
          <ac:spMkLst>
            <pc:docMk/>
            <pc:sldMk cId="0" sldId="257"/>
            <ac:spMk id="39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3:39.250" v="31" actId="478"/>
          <ac:spMkLst>
            <pc:docMk/>
            <pc:sldMk cId="0" sldId="257"/>
            <ac:spMk id="40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4:02.236" v="34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07:19:31.080" v="3" actId="478"/>
          <ac:spMkLst>
            <pc:docMk/>
            <pc:sldMk cId="0" sldId="257"/>
            <ac:spMk id="51" creationId="{00000000-0000-0000-0000-000000000000}"/>
          </ac:spMkLst>
        </pc:spChg>
      </pc:sldChg>
      <pc:sldChg chg="addSp delSp modSp mod">
        <pc:chgData name="Mohammad Momani" userId="7db2dd46-e351-4fd3-9e94-aeb55a5fd800" providerId="ADAL" clId="{3E53C491-65F6-552F-8620-7FC76ED5853A}" dt="2026-10-12T07:21:37.874" v="8"/>
        <pc:sldMkLst>
          <pc:docMk/>
          <pc:sldMk cId="0" sldId="258"/>
        </pc:sldMkLst>
        <pc:spChg chg="del mod">
          <ac:chgData name="Mohammad Momani" userId="7db2dd46-e351-4fd3-9e94-aeb55a5fd800" providerId="ADAL" clId="{3E53C491-65F6-552F-8620-7FC76ED5853A}" dt="2026-10-12T07:21:37.412" v="7" actId="21"/>
          <ac:spMkLst>
            <pc:docMk/>
            <pc:sldMk cId="0" sldId="258"/>
            <ac:spMk id="4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07:21:33.398" v="4" actId="21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Mohammad Momani" userId="7db2dd46-e351-4fd3-9e94-aeb55a5fd800" providerId="ADAL" clId="{3E53C491-65F6-552F-8620-7FC76ED5853A}" dt="2026-10-12T07:21:33.874" v="5"/>
          <ac:spMkLst>
            <pc:docMk/>
            <pc:sldMk cId="0" sldId="258"/>
            <ac:spMk id="51" creationId="{2C6532A7-70A5-A527-82DC-CAC3C2EF7527}"/>
          </ac:spMkLst>
        </pc:spChg>
        <pc:spChg chg="add mod">
          <ac:chgData name="Mohammad Momani" userId="7db2dd46-e351-4fd3-9e94-aeb55a5fd800" providerId="ADAL" clId="{3E53C491-65F6-552F-8620-7FC76ED5853A}" dt="2026-10-12T07:21:37.874" v="8"/>
          <ac:spMkLst>
            <pc:docMk/>
            <pc:sldMk cId="0" sldId="258"/>
            <ac:spMk id="52" creationId="{F724C691-EFF0-9F4B-28E2-69945C2F84F3}"/>
          </ac:spMkLst>
        </pc:spChg>
      </pc:sldChg>
      <pc:sldChg chg="modSp mod">
        <pc:chgData name="Mohammad Momani" userId="7db2dd46-e351-4fd3-9e94-aeb55a5fd800" providerId="ADAL" clId="{3E53C491-65F6-552F-8620-7FC76ED5853A}" dt="2026-10-12T07:24:56.397" v="9" actId="1076"/>
        <pc:sldMkLst>
          <pc:docMk/>
          <pc:sldMk cId="0" sldId="261"/>
        </pc:sldMkLst>
        <pc:picChg chg="mod">
          <ac:chgData name="Mohammad Momani" userId="7db2dd46-e351-4fd3-9e94-aeb55a5fd800" providerId="ADAL" clId="{3E53C491-65F6-552F-8620-7FC76ED5853A}" dt="2026-10-12T07:24:56.397" v="9" actId="1076"/>
          <ac:picMkLst>
            <pc:docMk/>
            <pc:sldMk cId="0" sldId="261"/>
            <ac:picMk id="33" creationId="{00000000-0000-0000-0000-000000000000}"/>
          </ac:picMkLst>
        </pc:picChg>
      </pc:sldChg>
      <pc:sldChg chg="addSp delSp modSp mod">
        <pc:chgData name="Mohammad Momani" userId="7db2dd46-e351-4fd3-9e94-aeb55a5fd800" providerId="ADAL" clId="{3E53C491-65F6-552F-8620-7FC76ED5853A}" dt="2026-10-12T12:30:22.215" v="87"/>
        <pc:sldMkLst>
          <pc:docMk/>
          <pc:sldMk cId="0" sldId="262"/>
        </pc:sldMkLst>
        <pc:spChg chg="mod">
          <ac:chgData name="Mohammad Momani" userId="7db2dd46-e351-4fd3-9e94-aeb55a5fd800" providerId="ADAL" clId="{3E53C491-65F6-552F-8620-7FC76ED5853A}" dt="2026-10-12T12:27:25.696" v="78" actId="20577"/>
          <ac:spMkLst>
            <pc:docMk/>
            <pc:sldMk cId="0" sldId="262"/>
            <ac:spMk id="29" creationId="{00000000-0000-0000-0000-000000000000}"/>
          </ac:spMkLst>
        </pc:spChg>
        <pc:spChg chg="add del mod">
          <ac:chgData name="Mohammad Momani" userId="7db2dd46-e351-4fd3-9e94-aeb55a5fd800" providerId="ADAL" clId="{3E53C491-65F6-552F-8620-7FC76ED5853A}" dt="2026-10-12T12:30:22.215" v="87"/>
          <ac:spMkLst>
            <pc:docMk/>
            <pc:sldMk cId="0" sldId="262"/>
            <ac:spMk id="66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8:58.291" v="79" actId="478"/>
          <ac:spMkLst>
            <pc:docMk/>
            <pc:sldMk cId="0" sldId="262"/>
            <ac:spMk id="69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9:02.720" v="82" actId="478"/>
          <ac:spMkLst>
            <pc:docMk/>
            <pc:sldMk cId="0" sldId="262"/>
            <ac:spMk id="70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9:13.395" v="84" actId="478"/>
          <ac:spMkLst>
            <pc:docMk/>
            <pc:sldMk cId="0" sldId="262"/>
            <ac:spMk id="74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9:11.999" v="83" actId="478"/>
          <ac:spMkLst>
            <pc:docMk/>
            <pc:sldMk cId="0" sldId="262"/>
            <ac:spMk id="75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9:29.279" v="85" actId="478"/>
          <ac:spMkLst>
            <pc:docMk/>
            <pc:sldMk cId="0" sldId="262"/>
            <ac:spMk id="84" creationId="{00000000-0000-0000-0000-000000000000}"/>
          </ac:spMkLst>
        </pc:spChg>
        <pc:spChg chg="del">
          <ac:chgData name="Mohammad Momani" userId="7db2dd46-e351-4fd3-9e94-aeb55a5fd800" providerId="ADAL" clId="{3E53C491-65F6-552F-8620-7FC76ED5853A}" dt="2026-10-12T12:29:30.615" v="86" actId="478"/>
          <ac:spMkLst>
            <pc:docMk/>
            <pc:sldMk cId="0" sldId="262"/>
            <ac:spMk id="85" creationId="{00000000-0000-0000-0000-000000000000}"/>
          </ac:spMkLst>
        </pc:spChg>
      </pc:sldChg>
      <pc:sldChg chg="modSp mod">
        <pc:chgData name="Mohammad Momani" userId="7db2dd46-e351-4fd3-9e94-aeb55a5fd800" providerId="ADAL" clId="{3E53C491-65F6-552F-8620-7FC76ED5853A}" dt="2026-10-12T12:30:27.758" v="88" actId="20577"/>
        <pc:sldMkLst>
          <pc:docMk/>
          <pc:sldMk cId="0" sldId="263"/>
        </pc:sldMkLst>
        <pc:spChg chg="mod">
          <ac:chgData name="Mohammad Momani" userId="7db2dd46-e351-4fd3-9e94-aeb55a5fd800" providerId="ADAL" clId="{3E53C491-65F6-552F-8620-7FC76ED5853A}" dt="2026-10-12T12:30:27.758" v="88" actId="20577"/>
          <ac:spMkLst>
            <pc:docMk/>
            <pc:sldMk cId="0" sldId="263"/>
            <ac:spMk id="35" creationId="{00000000-0000-0000-0000-000000000000}"/>
          </ac:spMkLst>
        </pc:spChg>
      </pc:sldChg>
      <pc:sldChg chg="addSp delSp modSp mod">
        <pc:chgData name="Mohammad Momani" userId="7db2dd46-e351-4fd3-9e94-aeb55a5fd800" providerId="ADAL" clId="{3E53C491-65F6-552F-8620-7FC76ED5853A}" dt="2026-10-12T07:27:37.053" v="29" actId="21"/>
        <pc:sldMkLst>
          <pc:docMk/>
          <pc:sldMk cId="0" sldId="264"/>
        </pc:sldMkLst>
        <pc:spChg chg="mod">
          <ac:chgData name="Mohammad Momani" userId="7db2dd46-e351-4fd3-9e94-aeb55a5fd800" providerId="ADAL" clId="{3E53C491-65F6-552F-8620-7FC76ED5853A}" dt="2026-10-12T07:25:53.279" v="15" actId="1076"/>
          <ac:spMkLst>
            <pc:docMk/>
            <pc:sldMk cId="0" sldId="264"/>
            <ac:spMk id="2" creationId="{00000000-0000-0000-0000-000000000000}"/>
          </ac:spMkLst>
        </pc:spChg>
        <pc:spChg chg="add del">
          <ac:chgData name="Mohammad Momani" userId="7db2dd46-e351-4fd3-9e94-aeb55a5fd800" providerId="ADAL" clId="{3E53C491-65F6-552F-8620-7FC76ED5853A}" dt="2026-10-12T07:27:37.053" v="29" actId="21"/>
          <ac:spMkLst>
            <pc:docMk/>
            <pc:sldMk cId="0" sldId="264"/>
            <ac:spMk id="4" creationId="{00000000-0000-0000-0000-000000000000}"/>
          </ac:spMkLst>
        </pc:spChg>
        <pc:spChg chg="mod">
          <ac:chgData name="Mohammad Momani" userId="7db2dd46-e351-4fd3-9e94-aeb55a5fd800" providerId="ADAL" clId="{3E53C491-65F6-552F-8620-7FC76ED5853A}" dt="2026-10-12T07:26:18.516" v="18" actId="207"/>
          <ac:spMkLst>
            <pc:docMk/>
            <pc:sldMk cId="0" sldId="264"/>
            <ac:spMk id="25" creationId="{00000000-0000-0000-0000-000000000000}"/>
          </ac:spMkLst>
        </pc:spChg>
        <pc:spChg chg="add mod">
          <ac:chgData name="Mohammad Momani" userId="7db2dd46-e351-4fd3-9e94-aeb55a5fd800" providerId="ADAL" clId="{3E53C491-65F6-552F-8620-7FC76ED5853A}" dt="2026-10-12T07:27:17.776" v="26" actId="1076"/>
          <ac:spMkLst>
            <pc:docMk/>
            <pc:sldMk cId="0" sldId="264"/>
            <ac:spMk id="35" creationId="{2A3D09EE-9C5C-640D-6769-934479ABB78D}"/>
          </ac:spMkLst>
        </pc:spChg>
        <pc:spChg chg="add mod">
          <ac:chgData name="Mohammad Momani" userId="7db2dd46-e351-4fd3-9e94-aeb55a5fd800" providerId="ADAL" clId="{3E53C491-65F6-552F-8620-7FC76ED5853A}" dt="2026-10-12T07:27:24.359" v="28"/>
          <ac:spMkLst>
            <pc:docMk/>
            <pc:sldMk cId="0" sldId="264"/>
            <ac:spMk id="36" creationId="{8F01DF99-3BA6-E75E-F75C-0840826C9EFB}"/>
          </ac:spMkLst>
        </pc:spChg>
        <pc:picChg chg="del">
          <ac:chgData name="Mohammad Momani" userId="7db2dd46-e351-4fd3-9e94-aeb55a5fd800" providerId="ADAL" clId="{3E53C491-65F6-552F-8620-7FC76ED5853A}" dt="2026-10-12T07:25:56.602" v="16" actId="478"/>
          <ac:picMkLst>
            <pc:docMk/>
            <pc:sldMk cId="0" sldId="264"/>
            <ac:picMk id="26" creationId="{00000000-0000-0000-0000-000000000000}"/>
          </ac:picMkLst>
        </pc:picChg>
        <pc:picChg chg="add mod">
          <ac:chgData name="Mohammad Momani" userId="7db2dd46-e351-4fd3-9e94-aeb55a5fd800" providerId="ADAL" clId="{3E53C491-65F6-552F-8620-7FC76ED5853A}" dt="2026-10-12T07:26:04.541" v="17" actId="1076"/>
          <ac:picMkLst>
            <pc:docMk/>
            <pc:sldMk cId="0" sldId="264"/>
            <ac:picMk id="34" creationId="{1597AE9F-26A0-53BC-0659-B788B603DD0B}"/>
          </ac:picMkLst>
        </pc:picChg>
      </pc:sldChg>
      <pc:sldChg chg="del">
        <pc:chgData name="Mohammad Momani" userId="7db2dd46-e351-4fd3-9e94-aeb55a5fd800" providerId="ADAL" clId="{3E53C491-65F6-552F-8620-7FC76ED5853A}" dt="2026-10-12T12:32:17.006" v="89" actId="2696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82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ask: approve a controlled MVP that brings Almodon Plus programs, episodes and shorts into the main Almodon experience. Approval covers MVP delivery subject to player, CMS and analytics feasibility checks; it is not a full platform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news lives on Almodon and video programming on Almodon Plus. The proposal connects them into one journey: read, discover, watch, continue. We keep the current Plus infrastructure unless migration is justified later. Benchmark signal: Al Jazeera Net and The Guardian surface video within their news environments; that is a design pattern, not proven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placements share one on-site viewing experience. Homepage: featured programs, shorts carousel and an All Programs CTA. Programs hub: browse shows, seasons and episodes. Articles: relevant embedded videos chosen by editors. Every video plays on almodon.com with no redirect.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homepage keeps the news lead story with live updates on top, then brings in the Almodon Plus programs module, followed by a shorts carousel under the politics section. On mobile the same modules become swipe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programs hub opens with a featured show, then continue watching, current programs and recommendations. Each show page carries synopsis, seasons and the ordered episode list, plus that show’s shorts.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Episodes open in an on-site player with standard controls, next episode, episodes list and captions. Shorts open in a portrait viewer with up-next and a link to the full episode. No user leaves Almodon to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features are required to launch. M01 to M06 cover discovery and viewing; M07 to M12 cover editorial, context and quality. Acceptance gate: no user is redirected away from Almodon to play a selected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approved scope. After the MVP, twelve opportunities to prioritise from evidence. Viewer experience: personalised discovery, continue watching, follows and alerts, immersive vertical shorts, autoplay next, advanced search. Editorial intelligence and growth: dynamic article recommendations, AI transcripts and translation, picture-in-picture and background audio, video advertising after commercial approval, experiments and targeting, and CMS consolidation only with proven operational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Rebranding is planned for a later phase. The MVP launches under the current Almodon and Almodon Plus identities; the move to Fadaat is a separate phase and not part of the approved MVP scope. This deck already previews the Fadaat palette: navy, gold and blue with the square motif.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approval requested is to authorise MVP design and development, conditional on technical feasibility, engineering sizing and agreed release criteria. Four phases: discover, design, build and QA, then pilot and decide. Out of MVP: subscriptions, accounts, full OTT rebuild and CMS migration. No costs, delivery dates or engagement uplift are assumed before discovery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11239500" y="-2095500"/>
            <a:ext cx="7239000" cy="7239000"/>
          </a:xfrm>
          <a:prstGeom prst="ellipse">
            <a:avLst/>
          </a:prstGeom>
          <a:solidFill>
            <a:srgbClr val="3F97CD">
              <a:alpha val="5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-2791346" y="4733925"/>
            <a:ext cx="7810500" cy="7810500"/>
          </a:xfrm>
          <a:prstGeom prst="ellipse">
            <a:avLst/>
          </a:prstGeom>
          <a:solidFill>
            <a:srgbClr val="3F97CF">
              <a:alpha val="5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7810500" y="7239000"/>
            <a:ext cx="4953000" cy="4953000"/>
          </a:xfrm>
          <a:prstGeom prst="ellipse">
            <a:avLst/>
          </a:prstGeom>
          <a:solidFill>
            <a:srgbClr val="FFD300">
              <a:alpha val="2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4"/>
          <p:cNvSpPr/>
          <p:nvPr/>
        </p:nvSpPr>
        <p:spPr>
          <a:xfrm>
            <a:off x="15049500" y="6667500"/>
            <a:ext cx="638175" cy="638175"/>
          </a:xfrm>
          <a:prstGeom prst="rect">
            <a:avLst/>
          </a:prstGeom>
          <a:solidFill>
            <a:srgbClr val="3F97CD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5"/>
          <p:cNvSpPr/>
          <p:nvPr/>
        </p:nvSpPr>
        <p:spPr>
          <a:xfrm>
            <a:off x="16573500" y="6858000"/>
            <a:ext cx="381000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6"/>
          <p:cNvSpPr/>
          <p:nvPr/>
        </p:nvSpPr>
        <p:spPr>
          <a:xfrm>
            <a:off x="17573625" y="6667500"/>
            <a:ext cx="752475" cy="771525"/>
          </a:xfrm>
          <a:prstGeom prst="rect">
            <a:avLst/>
          </a:prstGeom>
          <a:solidFill>
            <a:srgbClr val="FFD300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7"/>
          <p:cNvSpPr/>
          <p:nvPr/>
        </p:nvSpPr>
        <p:spPr>
          <a:xfrm>
            <a:off x="16573500" y="7667625"/>
            <a:ext cx="771525" cy="752475"/>
          </a:xfrm>
          <a:prstGeom prst="rect">
            <a:avLst/>
          </a:prstGeom>
          <a:solidFill>
            <a:srgbClr val="3F97CD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8"/>
          <p:cNvSpPr/>
          <p:nvPr/>
        </p:nvSpPr>
        <p:spPr>
          <a:xfrm>
            <a:off x="17573625" y="7667625"/>
            <a:ext cx="752475" cy="7524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9"/>
          <p:cNvSpPr/>
          <p:nvPr/>
        </p:nvSpPr>
        <p:spPr>
          <a:xfrm>
            <a:off x="15973425" y="8058150"/>
            <a:ext cx="381000" cy="3619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0"/>
          <p:cNvSpPr/>
          <p:nvPr/>
        </p:nvSpPr>
        <p:spPr>
          <a:xfrm>
            <a:off x="15049500" y="8639175"/>
            <a:ext cx="1295400" cy="771525"/>
          </a:xfrm>
          <a:prstGeom prst="rect">
            <a:avLst/>
          </a:prstGeom>
          <a:solidFill>
            <a:srgbClr val="FFD300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1"/>
          <p:cNvSpPr/>
          <p:nvPr/>
        </p:nvSpPr>
        <p:spPr>
          <a:xfrm>
            <a:off x="16573500" y="8639175"/>
            <a:ext cx="771525" cy="771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2"/>
          <p:cNvSpPr/>
          <p:nvPr/>
        </p:nvSpPr>
        <p:spPr>
          <a:xfrm>
            <a:off x="17954625" y="8639175"/>
            <a:ext cx="381000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Shape 13"/>
          <p:cNvSpPr/>
          <p:nvPr/>
        </p:nvSpPr>
        <p:spPr>
          <a:xfrm>
            <a:off x="17573625" y="9191625"/>
            <a:ext cx="752475" cy="771525"/>
          </a:xfrm>
          <a:prstGeom prst="rect">
            <a:avLst/>
          </a:prstGeom>
          <a:solidFill>
            <a:srgbClr val="3F97CD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7" name="Shape 14"/>
          <p:cNvSpPr/>
          <p:nvPr/>
        </p:nvSpPr>
        <p:spPr>
          <a:xfrm>
            <a:off x="16573500" y="9582150"/>
            <a:ext cx="381000" cy="381000"/>
          </a:xfrm>
          <a:prstGeom prst="rect">
            <a:avLst/>
          </a:prstGeom>
          <a:solidFill>
            <a:srgbClr val="FFD300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1711672" cy="8763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873722" y="1085850"/>
            <a:ext cx="9525" cy="609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797" y="1104900"/>
            <a:ext cx="1926357" cy="5715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52500" y="3257550"/>
            <a:ext cx="18021300" cy="118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51"/>
              </a:lnSpc>
              <a:buNone/>
            </a:pPr>
            <a:r>
              <a:rPr lang="en-US" sz="8850" b="1" kern="0" spc="-31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Almodon.</a:t>
            </a:r>
            <a:endParaRPr lang="en-US" sz="8850" dirty="0"/>
          </a:p>
        </p:txBody>
      </p:sp>
      <p:sp>
        <p:nvSpPr>
          <p:cNvPr id="22" name="Text 17"/>
          <p:cNvSpPr/>
          <p:nvPr/>
        </p:nvSpPr>
        <p:spPr>
          <a:xfrm>
            <a:off x="952500" y="4403973"/>
            <a:ext cx="18021300" cy="118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51"/>
              </a:lnSpc>
              <a:buNone/>
            </a:pPr>
            <a:r>
              <a:rPr lang="en-US" sz="8850" b="1" kern="0" spc="-310" dirty="0">
                <a:gradFill rotWithShape="1">
                  <a:gsLst>
                    <a:gs pos="0">
                      <a:srgbClr val="FFD300">
                        <a:alpha val="100000"/>
                      </a:srgbClr>
                    </a:gs>
                    <a:gs pos="40000">
                      <a:srgbClr val="FFE38A">
                        <a:alpha val="100000"/>
                      </a:srgbClr>
                    </a:gs>
                    <a:gs pos="100000">
                      <a:srgbClr val="3F97CF">
                        <a:alpha val="100000"/>
                      </a:srgbClr>
                    </a:gs>
                  </a:gsLst>
                  <a:lin ang="0" scaled="0"/>
                </a:gradFill>
                <a:latin typeface="Sora" pitchFamily="34" charset="0"/>
                <a:ea typeface="Sora" pitchFamily="34" charset="-122"/>
                <a:cs typeface="Sora" pitchFamily="34" charset="-120"/>
              </a:rPr>
              <a:t>More ways to engage</a:t>
            </a:r>
            <a:endParaRPr lang="en-US" sz="8850" dirty="0"/>
          </a:p>
        </p:txBody>
      </p:sp>
      <p:sp>
        <p:nvSpPr>
          <p:cNvPr id="23" name="Text 18"/>
          <p:cNvSpPr/>
          <p:nvPr/>
        </p:nvSpPr>
        <p:spPr>
          <a:xfrm>
            <a:off x="952500" y="5836146"/>
            <a:ext cx="961453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07"/>
              </a:lnSpc>
              <a:buNone/>
            </a:pPr>
            <a:r>
              <a:rPr lang="en-US" sz="2550" dirty="0">
                <a:solidFill>
                  <a:srgbClr val="FFFFFF">
                    <a:alpha val="8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Bring discovery, programs and video playback into the main Almodon experience.</a:t>
            </a:r>
            <a:endParaRPr lang="en-US" sz="2550" dirty="0"/>
          </a:p>
        </p:txBody>
      </p:sp>
      <p:sp>
        <p:nvSpPr>
          <p:cNvPr id="27" name="Shape 22"/>
          <p:cNvSpPr/>
          <p:nvPr/>
        </p:nvSpPr>
        <p:spPr>
          <a:xfrm>
            <a:off x="952500" y="7736384"/>
            <a:ext cx="5283175" cy="1699171"/>
          </a:xfrm>
          <a:prstGeom prst="roundRect">
            <a:avLst>
              <a:gd name="adj" fmla="val 1569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8" name="Text 23"/>
          <p:cNvSpPr/>
          <p:nvPr/>
        </p:nvSpPr>
        <p:spPr>
          <a:xfrm>
            <a:off x="1285875" y="8031659"/>
            <a:ext cx="50780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FFD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REUSE THE ASSET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285875" y="8422184"/>
            <a:ext cx="475491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Almodon Plus programs, episodes and shorts.</a:t>
            </a:r>
            <a:endParaRPr lang="en-US" sz="1950" dirty="0"/>
          </a:p>
        </p:txBody>
      </p:sp>
      <p:sp>
        <p:nvSpPr>
          <p:cNvPr id="30" name="Shape 25"/>
          <p:cNvSpPr/>
          <p:nvPr/>
        </p:nvSpPr>
        <p:spPr>
          <a:xfrm>
            <a:off x="6502375" y="7736384"/>
            <a:ext cx="5283175" cy="1699171"/>
          </a:xfrm>
          <a:prstGeom prst="roundRect">
            <a:avLst>
              <a:gd name="adj" fmla="val 1569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1" name="Text 26"/>
          <p:cNvSpPr/>
          <p:nvPr/>
        </p:nvSpPr>
        <p:spPr>
          <a:xfrm>
            <a:off x="6835750" y="8031659"/>
            <a:ext cx="50780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F9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UNIFY THE JOURNEY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835750" y="8422184"/>
            <a:ext cx="475491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Homepage, programs hub and related shorts placements.</a:t>
            </a:r>
            <a:endParaRPr lang="en-US" sz="1950" dirty="0"/>
          </a:p>
        </p:txBody>
      </p:sp>
      <p:sp>
        <p:nvSpPr>
          <p:cNvPr id="33" name="Shape 28"/>
          <p:cNvSpPr/>
          <p:nvPr/>
        </p:nvSpPr>
        <p:spPr>
          <a:xfrm>
            <a:off x="12052250" y="7736384"/>
            <a:ext cx="5283250" cy="1699171"/>
          </a:xfrm>
          <a:prstGeom prst="roundRect">
            <a:avLst>
              <a:gd name="adj" fmla="val 1569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4" name="Text 29"/>
          <p:cNvSpPr/>
          <p:nvPr/>
        </p:nvSpPr>
        <p:spPr>
          <a:xfrm>
            <a:off x="12385625" y="8031659"/>
            <a:ext cx="5078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7FC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 THE IMPACT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2385625" y="8422184"/>
            <a:ext cx="475499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video engagement without harming news consumption.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4"/>
          <p:cNvSpPr/>
          <p:nvPr/>
        </p:nvSpPr>
        <p:spPr>
          <a:xfrm>
            <a:off x="8121552" y="4214811"/>
            <a:ext cx="7718301" cy="28575"/>
          </a:xfrm>
          <a:prstGeom prst="rect">
            <a:avLst/>
          </a:prstGeom>
          <a:gradFill rotWithShape="1">
            <a:gsLst>
              <a:gs pos="0">
                <a:srgbClr val="FFD300">
                  <a:alpha val="100000"/>
                </a:srgbClr>
              </a:gs>
              <a:gs pos="100000">
                <a:srgbClr val="3F97C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11906250" y="-2476500"/>
            <a:ext cx="6667500" cy="6667500"/>
          </a:xfrm>
          <a:prstGeom prst="ellipse">
            <a:avLst/>
          </a:prstGeom>
          <a:solidFill>
            <a:srgbClr val="3F97CF">
              <a:alpha val="4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-2476500" y="5905500"/>
            <a:ext cx="6096000" cy="6096000"/>
          </a:xfrm>
          <a:prstGeom prst="ellipse">
            <a:avLst/>
          </a:prstGeom>
          <a:solidFill>
            <a:srgbClr val="3F97CD">
              <a:alpha val="3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-762000" y="-571500"/>
            <a:ext cx="514350" cy="51435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466725" y="-419100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1276350" y="-571500"/>
            <a:ext cx="609600" cy="619125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466725" y="238125"/>
            <a:ext cx="619125" cy="60960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1276350" y="238125"/>
            <a:ext cx="609600" cy="609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-9525" y="552450"/>
            <a:ext cx="304800" cy="2952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-762000" y="1019175"/>
            <a:ext cx="1047750" cy="619125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466725" y="1019175"/>
            <a:ext cx="619125" cy="6191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1581150" y="1019175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276350" y="1466850"/>
            <a:ext cx="609600" cy="6191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466725" y="1781175"/>
            <a:ext cx="304800" cy="30480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80941" y="604838"/>
            <a:ext cx="33103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RATIONALE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11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52500" y="1428750"/>
            <a:ext cx="1571625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bring Almodon Plus inside Almodon?</a:t>
            </a:r>
            <a:endParaRPr lang="en-US" sz="4800" dirty="0"/>
          </a:p>
        </p:txBody>
      </p:sp>
      <p:sp>
        <p:nvSpPr>
          <p:cNvPr id="22" name="Shape 18"/>
          <p:cNvSpPr/>
          <p:nvPr/>
        </p:nvSpPr>
        <p:spPr>
          <a:xfrm>
            <a:off x="952500" y="2530599"/>
            <a:ext cx="5263195" cy="3910013"/>
          </a:xfrm>
          <a:prstGeom prst="roundRect">
            <a:avLst>
              <a:gd name="adj" fmla="val 6821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3" name="Text 19"/>
          <p:cNvSpPr/>
          <p:nvPr/>
        </p:nvSpPr>
        <p:spPr>
          <a:xfrm>
            <a:off x="1343025" y="2883024"/>
            <a:ext cx="55078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343025" y="3311649"/>
            <a:ext cx="515731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Two connected destinations</a:t>
            </a:r>
            <a:endParaRPr lang="en-US" sz="2850" dirty="0"/>
          </a:p>
        </p:txBody>
      </p:sp>
      <p:sp>
        <p:nvSpPr>
          <p:cNvPr id="25" name="Text 21"/>
          <p:cNvSpPr/>
          <p:nvPr/>
        </p:nvSpPr>
        <p:spPr>
          <a:xfrm>
            <a:off x="1343025" y="4359399"/>
            <a:ext cx="448642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18"/>
              </a:lnSpc>
              <a:buNone/>
            </a:pPr>
            <a:r>
              <a:rPr lang="en-US" sz="195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News on Almodon; video programming on Almodon Plus. The journey between formats needs to be easier.</a:t>
            </a:r>
            <a:endParaRPr lang="en-US" sz="1950" dirty="0"/>
          </a:p>
        </p:txBody>
      </p:sp>
      <p:sp>
        <p:nvSpPr>
          <p:cNvPr id="26" name="Shape 22"/>
          <p:cNvSpPr/>
          <p:nvPr/>
        </p:nvSpPr>
        <p:spPr>
          <a:xfrm>
            <a:off x="6500337" y="2530599"/>
            <a:ext cx="10835163" cy="3910013"/>
          </a:xfrm>
          <a:prstGeom prst="roundRect">
            <a:avLst>
              <a:gd name="adj" fmla="val 6821"/>
            </a:avLst>
          </a:prstGeom>
          <a:gradFill rotWithShape="1">
            <a:gsLst>
              <a:gs pos="0">
                <a:srgbClr val="FFD300">
                  <a:alpha val="16000"/>
                </a:srgbClr>
              </a:gs>
              <a:gs pos="100000">
                <a:srgbClr val="3F97CF">
                  <a:alpha val="8000"/>
                </a:srgbClr>
              </a:gs>
            </a:gsLst>
            <a:lin ang="2700000" scaled="0"/>
          </a:gradFill>
          <a:ln w="9525">
            <a:solidFill>
              <a:srgbClr val="FFD300">
                <a:alpha val="35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7" name="Text 23"/>
          <p:cNvSpPr/>
          <p:nvPr/>
        </p:nvSpPr>
        <p:spPr>
          <a:xfrm>
            <a:off x="7474074" y="2883024"/>
            <a:ext cx="103760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D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EXPERIENCE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7759824" y="3425949"/>
            <a:ext cx="1162050" cy="1162050"/>
          </a:xfrm>
          <a:prstGeom prst="ellipse">
            <a:avLst/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0" name="Text 26"/>
          <p:cNvSpPr/>
          <p:nvPr/>
        </p:nvSpPr>
        <p:spPr>
          <a:xfrm>
            <a:off x="7731249" y="3435474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700" dirty="0"/>
          </a:p>
        </p:txBody>
      </p:sp>
      <p:sp>
        <p:nvSpPr>
          <p:cNvPr id="31" name="Text 27"/>
          <p:cNvSpPr/>
          <p:nvPr/>
        </p:nvSpPr>
        <p:spPr>
          <a:xfrm>
            <a:off x="7894067" y="4740399"/>
            <a:ext cx="96969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135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READ</a:t>
            </a:r>
            <a:endParaRPr lang="en-US" sz="2250" dirty="0"/>
          </a:p>
        </p:txBody>
      </p:sp>
      <p:sp>
        <p:nvSpPr>
          <p:cNvPr id="32" name="Shape 28"/>
          <p:cNvSpPr/>
          <p:nvPr/>
        </p:nvSpPr>
        <p:spPr>
          <a:xfrm>
            <a:off x="10195024" y="3425949"/>
            <a:ext cx="1162050" cy="1162050"/>
          </a:xfrm>
          <a:prstGeom prst="ellipse">
            <a:avLst/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3" name="Text 29"/>
          <p:cNvSpPr/>
          <p:nvPr/>
        </p:nvSpPr>
        <p:spPr>
          <a:xfrm>
            <a:off x="10166449" y="3435474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700" dirty="0"/>
          </a:p>
        </p:txBody>
      </p:sp>
      <p:sp>
        <p:nvSpPr>
          <p:cNvPr id="34" name="Text 30"/>
          <p:cNvSpPr/>
          <p:nvPr/>
        </p:nvSpPr>
        <p:spPr>
          <a:xfrm>
            <a:off x="9922371" y="4740399"/>
            <a:ext cx="187817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135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DISCOVER</a:t>
            </a:r>
            <a:endParaRPr lang="en-US" sz="2250" dirty="0"/>
          </a:p>
        </p:txBody>
      </p:sp>
      <p:sp>
        <p:nvSpPr>
          <p:cNvPr id="35" name="Shape 31"/>
          <p:cNvSpPr/>
          <p:nvPr/>
        </p:nvSpPr>
        <p:spPr>
          <a:xfrm>
            <a:off x="12656269" y="3425949"/>
            <a:ext cx="1162050" cy="1162050"/>
          </a:xfrm>
          <a:prstGeom prst="ellipse">
            <a:avLst/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6" name="Text 32"/>
          <p:cNvSpPr/>
          <p:nvPr/>
        </p:nvSpPr>
        <p:spPr>
          <a:xfrm>
            <a:off x="12627694" y="3435474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700" dirty="0"/>
          </a:p>
        </p:txBody>
      </p:sp>
      <p:sp>
        <p:nvSpPr>
          <p:cNvPr id="37" name="Text 33"/>
          <p:cNvSpPr/>
          <p:nvPr/>
        </p:nvSpPr>
        <p:spPr>
          <a:xfrm>
            <a:off x="12630299" y="4740399"/>
            <a:ext cx="13354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135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WATCH</a:t>
            </a:r>
            <a:endParaRPr lang="en-US" sz="2250" dirty="0"/>
          </a:p>
        </p:txBody>
      </p:sp>
      <p:sp>
        <p:nvSpPr>
          <p:cNvPr id="42" name="Shape 38"/>
          <p:cNvSpPr/>
          <p:nvPr/>
        </p:nvSpPr>
        <p:spPr>
          <a:xfrm>
            <a:off x="952500" y="6859712"/>
            <a:ext cx="5283175" cy="1780133"/>
          </a:xfrm>
          <a:prstGeom prst="roundRect">
            <a:avLst>
              <a:gd name="adj" fmla="val 12842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3" name="Text 39"/>
          <p:cNvSpPr/>
          <p:nvPr/>
        </p:nvSpPr>
        <p:spPr>
          <a:xfrm>
            <a:off x="1266825" y="7135937"/>
            <a:ext cx="511997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Reach</a:t>
            </a:r>
            <a:endParaRPr lang="en-US" sz="2700" dirty="0"/>
          </a:p>
        </p:txBody>
      </p:sp>
      <p:sp>
        <p:nvSpPr>
          <p:cNvPr id="44" name="Text 40"/>
          <p:cNvSpPr/>
          <p:nvPr/>
        </p:nvSpPr>
        <p:spPr>
          <a:xfrm>
            <a:off x="1266825" y="7645524"/>
            <a:ext cx="479416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Expose existing video to Almodon readers.</a:t>
            </a:r>
            <a:endParaRPr lang="en-US" sz="1950" dirty="0"/>
          </a:p>
        </p:txBody>
      </p:sp>
      <p:sp>
        <p:nvSpPr>
          <p:cNvPr id="45" name="Shape 41"/>
          <p:cNvSpPr/>
          <p:nvPr/>
        </p:nvSpPr>
        <p:spPr>
          <a:xfrm>
            <a:off x="6502375" y="6859712"/>
            <a:ext cx="5283175" cy="1780133"/>
          </a:xfrm>
          <a:prstGeom prst="roundRect">
            <a:avLst>
              <a:gd name="adj" fmla="val 12842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6" name="Text 42"/>
          <p:cNvSpPr/>
          <p:nvPr/>
        </p:nvSpPr>
        <p:spPr>
          <a:xfrm>
            <a:off x="6816700" y="7135937"/>
            <a:ext cx="511997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Engagement</a:t>
            </a:r>
            <a:endParaRPr lang="en-US" sz="2700" dirty="0"/>
          </a:p>
        </p:txBody>
      </p:sp>
      <p:sp>
        <p:nvSpPr>
          <p:cNvPr id="47" name="Text 43"/>
          <p:cNvSpPr/>
          <p:nvPr/>
        </p:nvSpPr>
        <p:spPr>
          <a:xfrm>
            <a:off x="6816700" y="7645524"/>
            <a:ext cx="479416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cross-format journeys and watch depth.</a:t>
            </a:r>
            <a:endParaRPr lang="en-US" sz="1950" dirty="0"/>
          </a:p>
        </p:txBody>
      </p:sp>
      <p:sp>
        <p:nvSpPr>
          <p:cNvPr id="48" name="Shape 44"/>
          <p:cNvSpPr/>
          <p:nvPr/>
        </p:nvSpPr>
        <p:spPr>
          <a:xfrm>
            <a:off x="12052250" y="6859712"/>
            <a:ext cx="5283250" cy="1780133"/>
          </a:xfrm>
          <a:prstGeom prst="roundRect">
            <a:avLst>
              <a:gd name="adj" fmla="val 12842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9" name="Text 45"/>
          <p:cNvSpPr/>
          <p:nvPr/>
        </p:nvSpPr>
        <p:spPr>
          <a:xfrm>
            <a:off x="12366575" y="7135937"/>
            <a:ext cx="512006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FC4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</a:t>
            </a:r>
            <a:endParaRPr lang="en-US" sz="2700" dirty="0"/>
          </a:p>
        </p:txBody>
      </p:sp>
      <p:sp>
        <p:nvSpPr>
          <p:cNvPr id="50" name="Text 46"/>
          <p:cNvSpPr/>
          <p:nvPr/>
        </p:nvSpPr>
        <p:spPr>
          <a:xfrm>
            <a:off x="12366575" y="7645524"/>
            <a:ext cx="512006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 journalism and video as one offer.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6667500" y="-2857500"/>
            <a:ext cx="6096000" cy="6096000"/>
          </a:xfrm>
          <a:prstGeom prst="ellipse">
            <a:avLst/>
          </a:prstGeom>
          <a:solidFill>
            <a:srgbClr val="FFD300">
              <a:alpha val="2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15240000" y="-762000"/>
            <a:ext cx="561975" cy="561975"/>
          </a:xfrm>
          <a:prstGeom prst="rect">
            <a:avLst/>
          </a:prstGeom>
          <a:solidFill>
            <a:srgbClr val="3F97CD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16592550" y="-590550"/>
            <a:ext cx="333375" cy="33337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7478375" y="-762000"/>
            <a:ext cx="666750" cy="685800"/>
          </a:xfrm>
          <a:prstGeom prst="rect">
            <a:avLst/>
          </a:prstGeom>
          <a:solidFill>
            <a:srgbClr val="FFD300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16592550" y="133350"/>
            <a:ext cx="685800" cy="666750"/>
          </a:xfrm>
          <a:prstGeom prst="rect">
            <a:avLst/>
          </a:prstGeom>
          <a:solidFill>
            <a:srgbClr val="3F97CD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7478375" y="133350"/>
            <a:ext cx="666750" cy="66675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16059150" y="476250"/>
            <a:ext cx="333375" cy="32385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15240000" y="990600"/>
            <a:ext cx="1152525" cy="685800"/>
          </a:xfrm>
          <a:prstGeom prst="rect">
            <a:avLst/>
          </a:prstGeom>
          <a:solidFill>
            <a:srgbClr val="FFD300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16592550" y="990600"/>
            <a:ext cx="685800" cy="68580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7821275" y="990600"/>
            <a:ext cx="333375" cy="33337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7478375" y="1476375"/>
            <a:ext cx="666750" cy="685800"/>
          </a:xfrm>
          <a:prstGeom prst="rect">
            <a:avLst/>
          </a:prstGeom>
          <a:solidFill>
            <a:srgbClr val="3F97CD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Shape 14"/>
          <p:cNvSpPr/>
          <p:nvPr/>
        </p:nvSpPr>
        <p:spPr>
          <a:xfrm>
            <a:off x="16592550" y="1819275"/>
            <a:ext cx="333375" cy="333375"/>
          </a:xfrm>
          <a:prstGeom prst="rect">
            <a:avLst/>
          </a:prstGeom>
          <a:solidFill>
            <a:srgbClr val="FFD300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80941" y="604838"/>
            <a:ext cx="3894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UX &amp; CONCEPT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11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52500" y="1428750"/>
            <a:ext cx="14716125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placements, one on-site viewing experience</a:t>
            </a:r>
            <a:endParaRPr lang="en-US" sz="4800" dirty="0"/>
          </a:p>
        </p:txBody>
      </p:sp>
      <p:sp>
        <p:nvSpPr>
          <p:cNvPr id="23" name="Shape 19"/>
          <p:cNvSpPr/>
          <p:nvPr/>
        </p:nvSpPr>
        <p:spPr>
          <a:xfrm>
            <a:off x="952500" y="3251448"/>
            <a:ext cx="5257800" cy="5061496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4" name="Shape 20"/>
          <p:cNvSpPr/>
          <p:nvPr/>
        </p:nvSpPr>
        <p:spPr>
          <a:xfrm>
            <a:off x="962025" y="3260973"/>
            <a:ext cx="5238750" cy="3143250"/>
          </a:xfrm>
          <a:prstGeom prst="rect">
            <a:avLst/>
          </a:prstGeom>
          <a:solidFill>
            <a:srgbClr val="0B1730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1389" r="1389"/>
          <a:stretch/>
        </p:blipFill>
        <p:spPr>
          <a:xfrm>
            <a:off x="962025" y="3260973"/>
            <a:ext cx="5238750" cy="314325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62025" y="3225115"/>
            <a:ext cx="5238750" cy="3143250"/>
          </a:xfrm>
          <a:prstGeom prst="rect">
            <a:avLst/>
          </a:prstGeom>
          <a:gradFill rotWithShape="1">
            <a:gsLst>
              <a:gs pos="0">
                <a:srgbClr val="031A3A">
                  <a:alpha val="85000"/>
                </a:srgbClr>
              </a:gs>
              <a:gs pos="55000">
                <a:srgbClr val="031A3A">
                  <a:alpha val="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27" name="Shape 22"/>
          <p:cNvSpPr/>
          <p:nvPr/>
        </p:nvSpPr>
        <p:spPr>
          <a:xfrm>
            <a:off x="1171575" y="3470523"/>
            <a:ext cx="679326" cy="4667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28" name="Text 23"/>
          <p:cNvSpPr/>
          <p:nvPr/>
        </p:nvSpPr>
        <p:spPr>
          <a:xfrm>
            <a:off x="1352550" y="3537198"/>
            <a:ext cx="3935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100" dirty="0"/>
          </a:p>
        </p:txBody>
      </p:sp>
      <p:sp>
        <p:nvSpPr>
          <p:cNvPr id="29" name="Text 24"/>
          <p:cNvSpPr/>
          <p:nvPr/>
        </p:nvSpPr>
        <p:spPr>
          <a:xfrm>
            <a:off x="1285875" y="6689973"/>
            <a:ext cx="50501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Homepage</a:t>
            </a:r>
            <a:endParaRPr lang="en-US" sz="2850" dirty="0"/>
          </a:p>
        </p:txBody>
      </p:sp>
      <p:sp>
        <p:nvSpPr>
          <p:cNvPr id="30" name="Text 25"/>
          <p:cNvSpPr/>
          <p:nvPr/>
        </p:nvSpPr>
        <p:spPr>
          <a:xfrm>
            <a:off x="1285875" y="7242423"/>
            <a:ext cx="472878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programs, shorts carousel and All Programs CTA.</a:t>
            </a:r>
            <a:endParaRPr lang="en-US" sz="1950" dirty="0"/>
          </a:p>
        </p:txBody>
      </p:sp>
      <p:sp>
        <p:nvSpPr>
          <p:cNvPr id="31" name="Shape 26"/>
          <p:cNvSpPr/>
          <p:nvPr/>
        </p:nvSpPr>
        <p:spPr>
          <a:xfrm>
            <a:off x="6515100" y="3251448"/>
            <a:ext cx="5257800" cy="5061496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2" name="Shape 27"/>
          <p:cNvSpPr/>
          <p:nvPr/>
        </p:nvSpPr>
        <p:spPr>
          <a:xfrm>
            <a:off x="6524625" y="3260973"/>
            <a:ext cx="5238750" cy="3143250"/>
          </a:xfrm>
          <a:prstGeom prst="rect">
            <a:avLst/>
          </a:prstGeom>
          <a:solidFill>
            <a:srgbClr val="0B1730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b="20000"/>
          <a:stretch/>
        </p:blipFill>
        <p:spPr>
          <a:xfrm>
            <a:off x="6524625" y="3260973"/>
            <a:ext cx="5238750" cy="314325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524625" y="3260973"/>
            <a:ext cx="5238750" cy="3143250"/>
          </a:xfrm>
          <a:prstGeom prst="rect">
            <a:avLst/>
          </a:prstGeom>
          <a:gradFill rotWithShape="1">
            <a:gsLst>
              <a:gs pos="0">
                <a:srgbClr val="031A3A">
                  <a:alpha val="85000"/>
                </a:srgbClr>
              </a:gs>
              <a:gs pos="55000">
                <a:srgbClr val="031A3A">
                  <a:alpha val="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5" name="Shape 29"/>
          <p:cNvSpPr/>
          <p:nvPr/>
        </p:nvSpPr>
        <p:spPr>
          <a:xfrm>
            <a:off x="6734175" y="3470523"/>
            <a:ext cx="733797" cy="4667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6" name="Text 30"/>
          <p:cNvSpPr/>
          <p:nvPr/>
        </p:nvSpPr>
        <p:spPr>
          <a:xfrm>
            <a:off x="6915150" y="3537198"/>
            <a:ext cx="4480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100" dirty="0"/>
          </a:p>
        </p:txBody>
      </p:sp>
      <p:sp>
        <p:nvSpPr>
          <p:cNvPr id="37" name="Text 31"/>
          <p:cNvSpPr/>
          <p:nvPr/>
        </p:nvSpPr>
        <p:spPr>
          <a:xfrm>
            <a:off x="6848475" y="6689973"/>
            <a:ext cx="50501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Programs hub</a:t>
            </a:r>
            <a:endParaRPr lang="en-US" sz="2850" dirty="0"/>
          </a:p>
        </p:txBody>
      </p:sp>
      <p:sp>
        <p:nvSpPr>
          <p:cNvPr id="38" name="Text 32"/>
          <p:cNvSpPr/>
          <p:nvPr/>
        </p:nvSpPr>
        <p:spPr>
          <a:xfrm>
            <a:off x="6848475" y="7242423"/>
            <a:ext cx="505015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 shows, seasons and episodes.</a:t>
            </a:r>
            <a:endParaRPr lang="en-US" sz="1950" dirty="0"/>
          </a:p>
        </p:txBody>
      </p:sp>
      <p:sp>
        <p:nvSpPr>
          <p:cNvPr id="39" name="Shape 33"/>
          <p:cNvSpPr/>
          <p:nvPr/>
        </p:nvSpPr>
        <p:spPr>
          <a:xfrm>
            <a:off x="12077700" y="3251448"/>
            <a:ext cx="5257800" cy="5061496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0" name="Shape 34"/>
          <p:cNvSpPr/>
          <p:nvPr/>
        </p:nvSpPr>
        <p:spPr>
          <a:xfrm>
            <a:off x="12087225" y="3260973"/>
            <a:ext cx="5238750" cy="3143250"/>
          </a:xfrm>
          <a:prstGeom prst="rect">
            <a:avLst/>
          </a:prstGeom>
          <a:solidFill>
            <a:srgbClr val="0B1730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l="15278" r="15278"/>
          <a:stretch/>
        </p:blipFill>
        <p:spPr>
          <a:xfrm>
            <a:off x="12087225" y="3260973"/>
            <a:ext cx="5238750" cy="3143250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12087225" y="3260973"/>
            <a:ext cx="5238750" cy="3143250"/>
          </a:xfrm>
          <a:prstGeom prst="rect">
            <a:avLst/>
          </a:prstGeom>
          <a:gradFill rotWithShape="1">
            <a:gsLst>
              <a:gs pos="0">
                <a:srgbClr val="031A3A">
                  <a:alpha val="85000"/>
                </a:srgbClr>
              </a:gs>
              <a:gs pos="55000">
                <a:srgbClr val="031A3A">
                  <a:alpha val="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43" name="Shape 36"/>
          <p:cNvSpPr/>
          <p:nvPr/>
        </p:nvSpPr>
        <p:spPr>
          <a:xfrm>
            <a:off x="12296775" y="3470523"/>
            <a:ext cx="733871" cy="4667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44" name="Text 37"/>
          <p:cNvSpPr/>
          <p:nvPr/>
        </p:nvSpPr>
        <p:spPr>
          <a:xfrm>
            <a:off x="12477750" y="3537198"/>
            <a:ext cx="4481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C4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100" dirty="0"/>
          </a:p>
        </p:txBody>
      </p:sp>
      <p:sp>
        <p:nvSpPr>
          <p:cNvPr id="45" name="Text 38"/>
          <p:cNvSpPr/>
          <p:nvPr/>
        </p:nvSpPr>
        <p:spPr>
          <a:xfrm>
            <a:off x="12411075" y="6689973"/>
            <a:ext cx="50501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Articles</a:t>
            </a:r>
            <a:endParaRPr lang="en-US" sz="2850" dirty="0"/>
          </a:p>
        </p:txBody>
      </p:sp>
      <p:sp>
        <p:nvSpPr>
          <p:cNvPr id="46" name="Text 39"/>
          <p:cNvSpPr/>
          <p:nvPr/>
        </p:nvSpPr>
        <p:spPr>
          <a:xfrm>
            <a:off x="12411075" y="7242423"/>
            <a:ext cx="472878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1950" dirty="0">
                <a:solidFill>
                  <a:srgbClr val="FFFFFF">
                    <a:alpha val="8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News</a:t>
            </a:r>
            <a:endParaRPr lang="en-US" sz="1950" dirty="0"/>
          </a:p>
        </p:txBody>
      </p:sp>
      <p:sp>
        <p:nvSpPr>
          <p:cNvPr id="49" name="Shape 42"/>
          <p:cNvSpPr/>
          <p:nvPr/>
        </p:nvSpPr>
        <p:spPr>
          <a:xfrm>
            <a:off x="5721028" y="9065419"/>
            <a:ext cx="152400" cy="190500"/>
          </a:xfrm>
          <a:prstGeom prst="rect">
            <a:avLst/>
          </a:prstGeom>
          <a:solidFill>
            <a:srgbClr val="050D1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2C6532A7-70A5-A527-82DC-CAC3C2EF7527}"/>
              </a:ext>
            </a:extLst>
          </p:cNvPr>
          <p:cNvSpPr/>
          <p:nvPr/>
        </p:nvSpPr>
        <p:spPr>
          <a:xfrm>
            <a:off x="13335000" y="5715000"/>
            <a:ext cx="5905500" cy="5905500"/>
          </a:xfrm>
          <a:prstGeom prst="ellipse">
            <a:avLst/>
          </a:prstGeom>
          <a:solidFill>
            <a:srgbClr val="3F97CD">
              <a:alpha val="3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F724C691-EFF0-9F4B-28E2-69945C2F84F3}"/>
              </a:ext>
            </a:extLst>
          </p:cNvPr>
          <p:cNvSpPr/>
          <p:nvPr/>
        </p:nvSpPr>
        <p:spPr>
          <a:xfrm>
            <a:off x="-1714499" y="2832348"/>
            <a:ext cx="6667500" cy="6667500"/>
          </a:xfrm>
          <a:prstGeom prst="ellipse">
            <a:avLst/>
          </a:prstGeom>
          <a:solidFill>
            <a:srgbClr val="3F97CF">
              <a:alpha val="40000"/>
            </a:srgbClr>
          </a:solidFill>
          <a:ln/>
        </p:spPr>
        <p:txBody>
          <a:bodyPr/>
          <a:lstStyle/>
          <a:p>
            <a:endParaRPr lang="en-Q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-1905000" y="-1905000"/>
            <a:ext cx="5905500" cy="5905500"/>
          </a:xfrm>
          <a:prstGeom prst="ellipse">
            <a:avLst/>
          </a:prstGeom>
          <a:solidFill>
            <a:srgbClr val="3F97CD">
              <a:alpha val="4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-571500" y="7239000"/>
            <a:ext cx="619125" cy="6191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904875" y="7419975"/>
            <a:ext cx="361950" cy="3619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866900" y="7239000"/>
            <a:ext cx="733425" cy="74295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904875" y="8210550"/>
            <a:ext cx="742950" cy="7334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866900" y="8210550"/>
            <a:ext cx="733425" cy="7334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323850" y="8591550"/>
            <a:ext cx="361950" cy="3524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-571500" y="9144000"/>
            <a:ext cx="1257300" cy="74295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904875" y="9144000"/>
            <a:ext cx="742950" cy="7429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2238375" y="9144000"/>
            <a:ext cx="361950" cy="3619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866900" y="9677400"/>
            <a:ext cx="733425" cy="74295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Shape 14"/>
          <p:cNvSpPr/>
          <p:nvPr/>
        </p:nvSpPr>
        <p:spPr>
          <a:xfrm>
            <a:off x="904875" y="10058400"/>
            <a:ext cx="361950" cy="36195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80941" y="604838"/>
            <a:ext cx="4581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DESIGN · HOMEPAGE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11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52500" y="1428750"/>
            <a:ext cx="5886450" cy="2769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Homepage: programs and shorts beside the news</a:t>
            </a:r>
            <a:endParaRPr lang="en-US" sz="4800" dirty="0"/>
          </a:p>
        </p:txBody>
      </p:sp>
      <p:sp>
        <p:nvSpPr>
          <p:cNvPr id="23" name="Text 19"/>
          <p:cNvSpPr/>
          <p:nvPr/>
        </p:nvSpPr>
        <p:spPr>
          <a:xfrm>
            <a:off x="952500" y="4445496"/>
            <a:ext cx="5886450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100" dirty="0">
                <a:solidFill>
                  <a:srgbClr val="FFFFFF">
                    <a:alpha val="8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lead story and live updates stay first. Programs and shorts follow as curated modules, on desktop and mobile.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>
            <a:off x="952500" y="6066606"/>
            <a:ext cx="4352181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25" name="Shape 21"/>
          <p:cNvSpPr/>
          <p:nvPr/>
        </p:nvSpPr>
        <p:spPr>
          <a:xfrm>
            <a:off x="1209675" y="6280919"/>
            <a:ext cx="114300" cy="114300"/>
          </a:xfrm>
          <a:prstGeom prst="ellipse">
            <a:avLst/>
          </a:prstGeom>
          <a:solidFill>
            <a:srgbClr val="D92D20"/>
          </a:solidFill>
          <a:ln/>
          <a:effectLst>
            <a:outerShdw blurRad="171450" dist="50800" dir="16200000" algn="bl" rotWithShape="0">
              <a:srgbClr val="D92D20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6" name="Text 22"/>
          <p:cNvSpPr/>
          <p:nvPr/>
        </p:nvSpPr>
        <p:spPr>
          <a:xfrm>
            <a:off x="1438275" y="6190431"/>
            <a:ext cx="371750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updates beside the lead story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952500" y="6742881"/>
            <a:ext cx="4352181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28" name="Shape 24"/>
          <p:cNvSpPr/>
          <p:nvPr/>
        </p:nvSpPr>
        <p:spPr>
          <a:xfrm>
            <a:off x="1209675" y="6957194"/>
            <a:ext cx="114300" cy="114300"/>
          </a:xfrm>
          <a:prstGeom prst="ellipse">
            <a:avLst/>
          </a:prstGeom>
          <a:solidFill>
            <a:srgbClr val="FFD300"/>
          </a:solidFill>
          <a:ln/>
          <a:effectLst>
            <a:outerShdw blurRad="171450" dist="50800" dir="16200000" algn="bl" rotWithShape="0">
              <a:srgbClr val="FFD300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9" name="Text 25"/>
          <p:cNvSpPr/>
          <p:nvPr/>
        </p:nvSpPr>
        <p:spPr>
          <a:xfrm>
            <a:off x="1438275" y="6866706"/>
            <a:ext cx="402110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programs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52499" y="7419156"/>
            <a:ext cx="4352181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1" name="Shape 27"/>
          <p:cNvSpPr/>
          <p:nvPr/>
        </p:nvSpPr>
        <p:spPr>
          <a:xfrm>
            <a:off x="1209675" y="7633469"/>
            <a:ext cx="114300" cy="114300"/>
          </a:xfrm>
          <a:prstGeom prst="ellipse">
            <a:avLst/>
          </a:prstGeom>
          <a:solidFill>
            <a:srgbClr val="3F97CF"/>
          </a:solidFill>
          <a:ln/>
          <a:effectLst>
            <a:outerShdw blurRad="171450" dist="50800" dir="16200000" algn="bl" rotWithShape="0">
              <a:srgbClr val="3F97CF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2" name="Text 28"/>
          <p:cNvSpPr/>
          <p:nvPr/>
        </p:nvSpPr>
        <p:spPr>
          <a:xfrm>
            <a:off x="1438275" y="7542981"/>
            <a:ext cx="32590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Shorts carousel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7200900" y="1428750"/>
            <a:ext cx="9544050" cy="7419975"/>
          </a:xfrm>
          <a:prstGeom prst="roundRect">
            <a:avLst>
              <a:gd name="adj" fmla="val 2824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4" name="Shape 30"/>
          <p:cNvSpPr/>
          <p:nvPr/>
        </p:nvSpPr>
        <p:spPr>
          <a:xfrm>
            <a:off x="7210425" y="1971675"/>
            <a:ext cx="952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5" name="Shape 31"/>
          <p:cNvSpPr/>
          <p:nvPr/>
        </p:nvSpPr>
        <p:spPr>
          <a:xfrm>
            <a:off x="7419975" y="1638300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6" name="Shape 32"/>
          <p:cNvSpPr/>
          <p:nvPr/>
        </p:nvSpPr>
        <p:spPr>
          <a:xfrm>
            <a:off x="7648575" y="1638300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7" name="Shape 33"/>
          <p:cNvSpPr/>
          <p:nvPr/>
        </p:nvSpPr>
        <p:spPr>
          <a:xfrm>
            <a:off x="7877175" y="1638300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8" name="Text 34"/>
          <p:cNvSpPr/>
          <p:nvPr/>
        </p:nvSpPr>
        <p:spPr>
          <a:xfrm>
            <a:off x="8277225" y="1557338"/>
            <a:ext cx="15437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almodon.com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7210425" y="1981200"/>
            <a:ext cx="9525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2" name="Shape 37"/>
          <p:cNvSpPr/>
          <p:nvPr/>
        </p:nvSpPr>
        <p:spPr>
          <a:xfrm>
            <a:off x="13869160" y="3402994"/>
            <a:ext cx="3560829" cy="630041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41906F4-7F4A-E7C0-EE8B-E27967E34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600" y="1971675"/>
            <a:ext cx="9521825" cy="16205669"/>
          </a:xfrm>
          <a:prstGeom prst="rect">
            <a:avLst/>
          </a:prstGeom>
        </p:spPr>
      </p:pic>
      <p:sp>
        <p:nvSpPr>
          <p:cNvPr id="47" name="Shape 36">
            <a:extLst>
              <a:ext uri="{FF2B5EF4-FFF2-40B4-BE49-F238E27FC236}">
                <a16:creationId xmlns:a16="http://schemas.microsoft.com/office/drawing/2014/main" id="{0DE2517D-67E4-D6C6-3B0E-8C647849FA48}"/>
              </a:ext>
            </a:extLst>
          </p:cNvPr>
          <p:cNvSpPr/>
          <p:nvPr/>
        </p:nvSpPr>
        <p:spPr>
          <a:xfrm>
            <a:off x="13747166" y="3280999"/>
            <a:ext cx="3804819" cy="6544401"/>
          </a:xfrm>
          <a:prstGeom prst="roundRect">
            <a:avLst>
              <a:gd name="adj" fmla="val 14019"/>
            </a:avLst>
          </a:prstGeom>
          <a:gradFill rotWithShape="1">
            <a:gsLst>
              <a:gs pos="0">
                <a:srgbClr val="2A3346">
                  <a:alpha val="100000"/>
                </a:srgbClr>
              </a:gs>
              <a:gs pos="100000">
                <a:srgbClr val="0B0F17">
                  <a:alpha val="100000"/>
                </a:srgbClr>
              </a:gs>
            </a:gsLst>
            <a:lin ang="4200000" scaled="0"/>
          </a:gradFill>
          <a:ln/>
          <a:effectLst>
            <a:outerShdw blurRad="857250" dist="3810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D9E674EC-2102-76C2-CA9A-6FBC457A1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0117" y="3474710"/>
            <a:ext cx="3609873" cy="7001764"/>
          </a:xfrm>
          <a:prstGeom prst="rect">
            <a:avLst/>
          </a:prstGeom>
        </p:spPr>
      </p:pic>
      <p:sp>
        <p:nvSpPr>
          <p:cNvPr id="49" name="Shape 3">
            <a:extLst>
              <a:ext uri="{FF2B5EF4-FFF2-40B4-BE49-F238E27FC236}">
                <a16:creationId xmlns:a16="http://schemas.microsoft.com/office/drawing/2014/main" id="{57C614FF-EDAC-D977-3F72-7CAF5B79EE84}"/>
              </a:ext>
            </a:extLst>
          </p:cNvPr>
          <p:cNvSpPr/>
          <p:nvPr/>
        </p:nvSpPr>
        <p:spPr>
          <a:xfrm>
            <a:off x="5715000" y="7810500"/>
            <a:ext cx="4572000" cy="4572000"/>
          </a:xfrm>
          <a:prstGeom prst="ellipse">
            <a:avLst/>
          </a:prstGeom>
          <a:solidFill>
            <a:srgbClr val="FFD300">
              <a:alpha val="2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5BF1ACCE-CFB5-B1F4-D0E5-DE9BCC3102A2}"/>
              </a:ext>
            </a:extLst>
          </p:cNvPr>
          <p:cNvSpPr/>
          <p:nvPr/>
        </p:nvSpPr>
        <p:spPr>
          <a:xfrm>
            <a:off x="12382500" y="3619500"/>
            <a:ext cx="7239000" cy="7239000"/>
          </a:xfrm>
          <a:prstGeom prst="ellipse">
            <a:avLst/>
          </a:prstGeom>
          <a:solidFill>
            <a:srgbClr val="3F97CF">
              <a:alpha val="45000"/>
            </a:srgbClr>
          </a:solidFill>
          <a:ln/>
        </p:spPr>
        <p:txBody>
          <a:bodyPr/>
          <a:lstStyle/>
          <a:p>
            <a:endParaRPr lang="en-Q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8572500" y="6667500"/>
            <a:ext cx="5905500" cy="5905500"/>
          </a:xfrm>
          <a:prstGeom prst="ellipse">
            <a:avLst/>
          </a:prstGeom>
          <a:solidFill>
            <a:srgbClr val="3F97CD">
              <a:alpha val="3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15049500" y="6667500"/>
            <a:ext cx="638175" cy="638175"/>
          </a:xfrm>
          <a:prstGeom prst="rect">
            <a:avLst/>
          </a:prstGeom>
          <a:solidFill>
            <a:srgbClr val="3F97CD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16573500" y="6858000"/>
            <a:ext cx="381000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7573625" y="6667500"/>
            <a:ext cx="752475" cy="771525"/>
          </a:xfrm>
          <a:prstGeom prst="rect">
            <a:avLst/>
          </a:prstGeom>
          <a:solidFill>
            <a:srgbClr val="FFD300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16573500" y="7667625"/>
            <a:ext cx="771525" cy="752475"/>
          </a:xfrm>
          <a:prstGeom prst="rect">
            <a:avLst/>
          </a:prstGeom>
          <a:solidFill>
            <a:srgbClr val="3F97CD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7573625" y="7667625"/>
            <a:ext cx="752475" cy="7524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15973425" y="8058150"/>
            <a:ext cx="381000" cy="3619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15049500" y="8639175"/>
            <a:ext cx="1295400" cy="771525"/>
          </a:xfrm>
          <a:prstGeom prst="rect">
            <a:avLst/>
          </a:prstGeom>
          <a:solidFill>
            <a:srgbClr val="FFD300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16573500" y="8639175"/>
            <a:ext cx="771525" cy="771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7954625" y="8639175"/>
            <a:ext cx="381000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7573625" y="9191625"/>
            <a:ext cx="752475" cy="771525"/>
          </a:xfrm>
          <a:prstGeom prst="rect">
            <a:avLst/>
          </a:prstGeom>
          <a:solidFill>
            <a:srgbClr val="3F97CD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Shape 14"/>
          <p:cNvSpPr/>
          <p:nvPr/>
        </p:nvSpPr>
        <p:spPr>
          <a:xfrm>
            <a:off x="16573500" y="9582150"/>
            <a:ext cx="381000" cy="381000"/>
          </a:xfrm>
          <a:prstGeom prst="rect">
            <a:avLst/>
          </a:prstGeom>
          <a:solidFill>
            <a:srgbClr val="FFD300">
              <a:alpha val="1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80941" y="604838"/>
            <a:ext cx="46063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DESIGN · PROGRAMS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11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52500" y="1428750"/>
            <a:ext cx="1571625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Programs hub and show pages</a:t>
            </a:r>
            <a:endParaRPr lang="en-US" sz="4800" dirty="0"/>
          </a:p>
        </p:txBody>
      </p:sp>
      <p:sp>
        <p:nvSpPr>
          <p:cNvPr id="23" name="Shape 19"/>
          <p:cNvSpPr/>
          <p:nvPr/>
        </p:nvSpPr>
        <p:spPr>
          <a:xfrm>
            <a:off x="952500" y="2492499"/>
            <a:ext cx="7829550" cy="5514975"/>
          </a:xfrm>
          <a:prstGeom prst="roundRect">
            <a:avLst>
              <a:gd name="adj" fmla="val 38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4" name="Shape 20"/>
          <p:cNvSpPr/>
          <p:nvPr/>
        </p:nvSpPr>
        <p:spPr>
          <a:xfrm>
            <a:off x="962025" y="3035424"/>
            <a:ext cx="7810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5" name="Shape 21"/>
          <p:cNvSpPr/>
          <p:nvPr/>
        </p:nvSpPr>
        <p:spPr>
          <a:xfrm>
            <a:off x="1171575" y="2702049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6" name="Shape 22"/>
          <p:cNvSpPr/>
          <p:nvPr/>
        </p:nvSpPr>
        <p:spPr>
          <a:xfrm>
            <a:off x="1400175" y="2702049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7" name="Shape 23"/>
          <p:cNvSpPr/>
          <p:nvPr/>
        </p:nvSpPr>
        <p:spPr>
          <a:xfrm>
            <a:off x="1628775" y="2702049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8" name="Text 24"/>
          <p:cNvSpPr/>
          <p:nvPr/>
        </p:nvSpPr>
        <p:spPr>
          <a:xfrm>
            <a:off x="2028825" y="2621087"/>
            <a:ext cx="2718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almodon.com/programs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62025" y="3044949"/>
            <a:ext cx="7810500" cy="495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044949"/>
            <a:ext cx="7810500" cy="4881563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048500" y="3635499"/>
            <a:ext cx="7829550" cy="5514975"/>
          </a:xfrm>
          <a:prstGeom prst="roundRect">
            <a:avLst>
              <a:gd name="adj" fmla="val 38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2" name="Shape 27"/>
          <p:cNvSpPr/>
          <p:nvPr/>
        </p:nvSpPr>
        <p:spPr>
          <a:xfrm>
            <a:off x="7058025" y="4178424"/>
            <a:ext cx="7810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3" name="Shape 28"/>
          <p:cNvSpPr/>
          <p:nvPr/>
        </p:nvSpPr>
        <p:spPr>
          <a:xfrm>
            <a:off x="7267575" y="3845049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4" name="Shape 29"/>
          <p:cNvSpPr/>
          <p:nvPr/>
        </p:nvSpPr>
        <p:spPr>
          <a:xfrm>
            <a:off x="7496175" y="3845049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5" name="Shape 30"/>
          <p:cNvSpPr/>
          <p:nvPr/>
        </p:nvSpPr>
        <p:spPr>
          <a:xfrm>
            <a:off x="7724775" y="3845049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6" name="Text 31"/>
          <p:cNvSpPr/>
          <p:nvPr/>
        </p:nvSpPr>
        <p:spPr>
          <a:xfrm>
            <a:off x="8124825" y="3764087"/>
            <a:ext cx="44840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almodon.com/programs/wajhan-li-wajh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7058025" y="4187949"/>
            <a:ext cx="7810500" cy="495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025" y="4187949"/>
            <a:ext cx="7810500" cy="4881563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14090998" y="2034945"/>
            <a:ext cx="3402904" cy="6287207"/>
          </a:xfrm>
          <a:prstGeom prst="roundRect">
            <a:avLst>
              <a:gd name="adj" fmla="val 15675"/>
            </a:avLst>
          </a:prstGeom>
          <a:gradFill rotWithShape="1">
            <a:gsLst>
              <a:gs pos="0">
                <a:srgbClr val="2A3346">
                  <a:alpha val="100000"/>
                </a:srgbClr>
              </a:gs>
              <a:gs pos="100000">
                <a:srgbClr val="0B0F17">
                  <a:alpha val="100000"/>
                </a:srgbClr>
              </a:gs>
            </a:gsLst>
            <a:lin ang="4200000" scaled="0"/>
          </a:gradFill>
          <a:ln/>
          <a:effectLst>
            <a:outerShdw blurRad="857250" dist="3810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0" name="Shape 34"/>
          <p:cNvSpPr/>
          <p:nvPr/>
        </p:nvSpPr>
        <p:spPr>
          <a:xfrm>
            <a:off x="14211123" y="2155071"/>
            <a:ext cx="3162653" cy="6046956"/>
          </a:xfrm>
          <a:prstGeom prst="roundRect">
            <a:avLst>
              <a:gd name="adj" fmla="val 132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11123" y="2155071"/>
            <a:ext cx="3177224" cy="6324958"/>
          </a:xfrm>
          <a:prstGeom prst="rect">
            <a:avLst/>
          </a:prstGeom>
        </p:spPr>
      </p:pic>
      <p:sp>
        <p:nvSpPr>
          <p:cNvPr id="48" name="Shape 1">
            <a:extLst>
              <a:ext uri="{FF2B5EF4-FFF2-40B4-BE49-F238E27FC236}">
                <a16:creationId xmlns:a16="http://schemas.microsoft.com/office/drawing/2014/main" id="{F97001B7-F531-B05E-2175-DB4DEA8193A1}"/>
              </a:ext>
            </a:extLst>
          </p:cNvPr>
          <p:cNvSpPr/>
          <p:nvPr/>
        </p:nvSpPr>
        <p:spPr>
          <a:xfrm>
            <a:off x="-2286000" y="-1524000"/>
            <a:ext cx="6858000" cy="6858000"/>
          </a:xfrm>
          <a:prstGeom prst="ellipse">
            <a:avLst/>
          </a:prstGeom>
          <a:solidFill>
            <a:srgbClr val="3F97CF">
              <a:alpha val="4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D7026AEA-22A8-0D3D-9A6F-AB0F8F47C022}"/>
              </a:ext>
            </a:extLst>
          </p:cNvPr>
          <p:cNvSpPr/>
          <p:nvPr/>
        </p:nvSpPr>
        <p:spPr>
          <a:xfrm>
            <a:off x="12954000" y="-1355601"/>
            <a:ext cx="5334000" cy="5334000"/>
          </a:xfrm>
          <a:prstGeom prst="ellipse">
            <a:avLst/>
          </a:prstGeom>
          <a:solidFill>
            <a:srgbClr val="FFD300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-1905000" y="5715000"/>
            <a:ext cx="5905500" cy="5905500"/>
          </a:xfrm>
          <a:prstGeom prst="ellipse">
            <a:avLst/>
          </a:prstGeom>
          <a:solidFill>
            <a:srgbClr val="FFD300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12382500" y="-1905000"/>
            <a:ext cx="6667500" cy="6667500"/>
          </a:xfrm>
          <a:prstGeom prst="ellipse">
            <a:avLst/>
          </a:prstGeom>
          <a:solidFill>
            <a:srgbClr val="3F97CD">
              <a:alpha val="4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6667500" y="-2857500"/>
            <a:ext cx="4953000" cy="4953000"/>
          </a:xfrm>
          <a:prstGeom prst="ellipse">
            <a:avLst/>
          </a:prstGeom>
          <a:solidFill>
            <a:srgbClr val="3F97C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-762000" y="-571500"/>
            <a:ext cx="514350" cy="51435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466725" y="-419100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276350" y="-571500"/>
            <a:ext cx="609600" cy="619125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466725" y="238125"/>
            <a:ext cx="619125" cy="60960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276350" y="238125"/>
            <a:ext cx="609600" cy="609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-9525" y="552450"/>
            <a:ext cx="304800" cy="2952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-762000" y="1019175"/>
            <a:ext cx="1047750" cy="619125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466725" y="1019175"/>
            <a:ext cx="619125" cy="6191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581150" y="1019175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276350" y="1466850"/>
            <a:ext cx="609600" cy="6191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Shape 14"/>
          <p:cNvSpPr/>
          <p:nvPr/>
        </p:nvSpPr>
        <p:spPr>
          <a:xfrm>
            <a:off x="466725" y="1781175"/>
            <a:ext cx="304800" cy="30480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80941" y="604838"/>
            <a:ext cx="43144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DESIGN · VIEWING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/ 11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52500" y="1428750"/>
            <a:ext cx="1571625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On-site player and shorts viewer</a:t>
            </a:r>
            <a:endParaRPr lang="en-US" sz="4800" dirty="0"/>
          </a:p>
        </p:txBody>
      </p:sp>
      <p:sp>
        <p:nvSpPr>
          <p:cNvPr id="23" name="Shape 19"/>
          <p:cNvSpPr/>
          <p:nvPr/>
        </p:nvSpPr>
        <p:spPr>
          <a:xfrm>
            <a:off x="952500" y="2492499"/>
            <a:ext cx="10172700" cy="6276975"/>
          </a:xfrm>
          <a:prstGeom prst="roundRect">
            <a:avLst>
              <a:gd name="adj" fmla="val 3338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4" name="Shape 20"/>
          <p:cNvSpPr/>
          <p:nvPr/>
        </p:nvSpPr>
        <p:spPr>
          <a:xfrm>
            <a:off x="962025" y="3035424"/>
            <a:ext cx="10153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5" name="Shape 21"/>
          <p:cNvSpPr/>
          <p:nvPr/>
        </p:nvSpPr>
        <p:spPr>
          <a:xfrm>
            <a:off x="1171575" y="2702049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6" name="Shape 22"/>
          <p:cNvSpPr/>
          <p:nvPr/>
        </p:nvSpPr>
        <p:spPr>
          <a:xfrm>
            <a:off x="1400175" y="2702049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7" name="Shape 23"/>
          <p:cNvSpPr/>
          <p:nvPr/>
        </p:nvSpPr>
        <p:spPr>
          <a:xfrm>
            <a:off x="1628775" y="2702049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8" name="Text 24"/>
          <p:cNvSpPr/>
          <p:nvPr/>
        </p:nvSpPr>
        <p:spPr>
          <a:xfrm>
            <a:off x="2028825" y="2621087"/>
            <a:ext cx="23217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almodon.com/watch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62025" y="3044949"/>
            <a:ext cx="1015365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044949"/>
            <a:ext cx="10153650" cy="571142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13935075" y="2492499"/>
            <a:ext cx="3371850" cy="5943600"/>
          </a:xfrm>
          <a:prstGeom prst="roundRect">
            <a:avLst>
              <a:gd name="adj" fmla="val 15819"/>
            </a:avLst>
          </a:prstGeom>
          <a:gradFill rotWithShape="1">
            <a:gsLst>
              <a:gs pos="0">
                <a:srgbClr val="2A3346">
                  <a:alpha val="100000"/>
                </a:srgbClr>
              </a:gs>
              <a:gs pos="100000">
                <a:srgbClr val="0B0F17">
                  <a:alpha val="100000"/>
                </a:srgbClr>
              </a:gs>
            </a:gsLst>
            <a:lin ang="4200000" scaled="0"/>
          </a:gradFill>
          <a:ln/>
          <a:effectLst>
            <a:outerShdw blurRad="857250" dist="3810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2" name="Shape 27"/>
          <p:cNvSpPr/>
          <p:nvPr/>
        </p:nvSpPr>
        <p:spPr>
          <a:xfrm>
            <a:off x="14049375" y="2606799"/>
            <a:ext cx="3143250" cy="571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9375" y="2603674"/>
            <a:ext cx="3143250" cy="680226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52500" y="9077325"/>
            <a:ext cx="4706541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5" name="Shape 29"/>
          <p:cNvSpPr/>
          <p:nvPr/>
        </p:nvSpPr>
        <p:spPr>
          <a:xfrm>
            <a:off x="1209675" y="9291638"/>
            <a:ext cx="114300" cy="114300"/>
          </a:xfrm>
          <a:prstGeom prst="ellipse">
            <a:avLst/>
          </a:prstGeom>
          <a:solidFill>
            <a:srgbClr val="FFD300"/>
          </a:solidFill>
          <a:ln/>
          <a:effectLst>
            <a:outerShdw blurRad="171450" dist="50800" dir="16200000" algn="bl" rotWithShape="0">
              <a:srgbClr val="FFD300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6" name="Text 30"/>
          <p:cNvSpPr/>
          <p:nvPr/>
        </p:nvSpPr>
        <p:spPr>
          <a:xfrm>
            <a:off x="1438275" y="9201150"/>
            <a:ext cx="408249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Responsive playback and error states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5792391" y="9077325"/>
            <a:ext cx="3686473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8" name="Shape 32"/>
          <p:cNvSpPr/>
          <p:nvPr/>
        </p:nvSpPr>
        <p:spPr>
          <a:xfrm>
            <a:off x="6049566" y="9291638"/>
            <a:ext cx="114300" cy="114300"/>
          </a:xfrm>
          <a:prstGeom prst="ellipse">
            <a:avLst/>
          </a:prstGeom>
          <a:solidFill>
            <a:srgbClr val="3F97CF"/>
          </a:solidFill>
          <a:ln/>
          <a:effectLst>
            <a:outerShdw blurRad="171450" dist="50800" dir="16200000" algn="bl" rotWithShape="0">
              <a:srgbClr val="3F97CF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9" name="Text 33"/>
          <p:cNvSpPr/>
          <p:nvPr/>
        </p:nvSpPr>
        <p:spPr>
          <a:xfrm>
            <a:off x="6278166" y="9201150"/>
            <a:ext cx="303182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Portrait shorts with up-next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9612213" y="9077325"/>
            <a:ext cx="2696245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41" name="Shape 35"/>
          <p:cNvSpPr/>
          <p:nvPr/>
        </p:nvSpPr>
        <p:spPr>
          <a:xfrm>
            <a:off x="9869388" y="9291638"/>
            <a:ext cx="114300" cy="114300"/>
          </a:xfrm>
          <a:prstGeom prst="ellipse">
            <a:avLst/>
          </a:prstGeom>
          <a:solidFill>
            <a:srgbClr val="D92D20"/>
          </a:solidFill>
          <a:ln/>
          <a:effectLst>
            <a:outerShdw blurRad="171450" dist="50800" dir="16200000" algn="bl" rotWithShape="0">
              <a:srgbClr val="D92D20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2" name="Text 36"/>
          <p:cNvSpPr/>
          <p:nvPr/>
        </p:nvSpPr>
        <p:spPr>
          <a:xfrm>
            <a:off x="10097988" y="9201150"/>
            <a:ext cx="20294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redirect to play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-1905000" y="-1905000"/>
            <a:ext cx="6667500" cy="6667500"/>
          </a:xfrm>
          <a:prstGeom prst="ellipse">
            <a:avLst/>
          </a:prstGeom>
          <a:solidFill>
            <a:srgbClr val="3F97CF">
              <a:alpha val="4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13335000" y="6667500"/>
            <a:ext cx="5905500" cy="5905500"/>
          </a:xfrm>
          <a:prstGeom prst="ellipse">
            <a:avLst/>
          </a:prstGeom>
          <a:solidFill>
            <a:srgbClr val="FFD300">
              <a:alpha val="2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15240000" y="-762000"/>
            <a:ext cx="561975" cy="561975"/>
          </a:xfrm>
          <a:prstGeom prst="rect">
            <a:avLst/>
          </a:prstGeom>
          <a:solidFill>
            <a:srgbClr val="3F97CD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16592550" y="-590550"/>
            <a:ext cx="333375" cy="33337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17478375" y="-762000"/>
            <a:ext cx="666750" cy="685800"/>
          </a:xfrm>
          <a:prstGeom prst="rect">
            <a:avLst/>
          </a:prstGeom>
          <a:solidFill>
            <a:srgbClr val="FFD300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6592550" y="133350"/>
            <a:ext cx="685800" cy="666750"/>
          </a:xfrm>
          <a:prstGeom prst="rect">
            <a:avLst/>
          </a:prstGeom>
          <a:solidFill>
            <a:srgbClr val="3F97CD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17478375" y="133350"/>
            <a:ext cx="666750" cy="66675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6059150" y="476250"/>
            <a:ext cx="333375" cy="32385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15240000" y="990600"/>
            <a:ext cx="1152525" cy="685800"/>
          </a:xfrm>
          <a:prstGeom prst="rect">
            <a:avLst/>
          </a:prstGeom>
          <a:solidFill>
            <a:srgbClr val="FFD300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16592550" y="990600"/>
            <a:ext cx="685800" cy="68580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17821275" y="990600"/>
            <a:ext cx="333375" cy="33337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7478375" y="1476375"/>
            <a:ext cx="666750" cy="685800"/>
          </a:xfrm>
          <a:prstGeom prst="rect">
            <a:avLst/>
          </a:prstGeom>
          <a:solidFill>
            <a:srgbClr val="3F97CD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6592550" y="1819275"/>
            <a:ext cx="333375" cy="333375"/>
          </a:xfrm>
          <a:prstGeom prst="rect">
            <a:avLst/>
          </a:prstGeom>
          <a:solidFill>
            <a:srgbClr val="FFD300">
              <a:alpha val="9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80941" y="604838"/>
            <a:ext cx="46469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SCOPE · COMMITTED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11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52500" y="1333500"/>
            <a:ext cx="10885104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MVP: 12 features required to launch</a:t>
            </a:r>
            <a:endParaRPr lang="en-US" sz="4800" dirty="0"/>
          </a:p>
        </p:txBody>
      </p:sp>
      <p:sp>
        <p:nvSpPr>
          <p:cNvPr id="22" name="Shape 18"/>
          <p:cNvSpPr/>
          <p:nvPr/>
        </p:nvSpPr>
        <p:spPr>
          <a:xfrm>
            <a:off x="11901562" y="2484686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3" name="Text 19"/>
          <p:cNvSpPr/>
          <p:nvPr/>
        </p:nvSpPr>
        <p:spPr>
          <a:xfrm>
            <a:off x="12130162" y="2403723"/>
            <a:ext cx="21181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 &amp; viewing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4400684" y="2484686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5" name="Text 21"/>
          <p:cNvSpPr/>
          <p:nvPr/>
        </p:nvSpPr>
        <p:spPr>
          <a:xfrm>
            <a:off x="14629284" y="2403723"/>
            <a:ext cx="278740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Editorial, context &amp; quality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952500" y="2908548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7" name="Shape 23"/>
          <p:cNvSpPr/>
          <p:nvPr/>
        </p:nvSpPr>
        <p:spPr>
          <a:xfrm>
            <a:off x="962025" y="2918073"/>
            <a:ext cx="3962400" cy="38100"/>
          </a:xfrm>
          <a:prstGeom prst="rect">
            <a:avLst/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8" name="Text 24"/>
          <p:cNvSpPr/>
          <p:nvPr/>
        </p:nvSpPr>
        <p:spPr>
          <a:xfrm>
            <a:off x="1190625" y="3070473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M01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190625" y="3399086"/>
            <a:ext cx="3855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Almodon</a:t>
            </a: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</a:t>
            </a:r>
            <a:r>
              <a:rPr lang="en-US" sz="21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Progrms</a:t>
            </a: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(</a:t>
            </a:r>
            <a:r>
              <a:rPr lang="en-US" sz="21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Almodon</a:t>
            </a: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Plus) navigation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1190625" y="3770561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Visible entry point in the main site navigation.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5086350" y="2908548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2" name="Shape 28"/>
          <p:cNvSpPr/>
          <p:nvPr/>
        </p:nvSpPr>
        <p:spPr>
          <a:xfrm>
            <a:off x="5095875" y="2918073"/>
            <a:ext cx="3962400" cy="38100"/>
          </a:xfrm>
          <a:prstGeom prst="rect">
            <a:avLst/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3" name="Text 29"/>
          <p:cNvSpPr/>
          <p:nvPr/>
        </p:nvSpPr>
        <p:spPr>
          <a:xfrm>
            <a:off x="5324475" y="3070473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M02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324475" y="3399086"/>
            <a:ext cx="36103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Homepage featured module</a:t>
            </a:r>
            <a:endParaRPr lang="en-US" sz="2100" dirty="0"/>
          </a:p>
        </p:txBody>
      </p:sp>
      <p:sp>
        <p:nvSpPr>
          <p:cNvPr id="35" name="Text 31"/>
          <p:cNvSpPr/>
          <p:nvPr/>
        </p:nvSpPr>
        <p:spPr>
          <a:xfrm>
            <a:off x="5324475" y="4103936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Curated programs and shorts; mobile swipe; all-programs CTA.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9220200" y="2908548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7" name="Shape 33"/>
          <p:cNvSpPr/>
          <p:nvPr/>
        </p:nvSpPr>
        <p:spPr>
          <a:xfrm>
            <a:off x="9229725" y="2918073"/>
            <a:ext cx="3962400" cy="38100"/>
          </a:xfrm>
          <a:prstGeom prst="rect">
            <a:avLst/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8" name="Text 34"/>
          <p:cNvSpPr/>
          <p:nvPr/>
        </p:nvSpPr>
        <p:spPr>
          <a:xfrm>
            <a:off x="9458325" y="3070473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M03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9458325" y="3399086"/>
            <a:ext cx="3855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Programs directory</a:t>
            </a:r>
            <a:endParaRPr lang="en-US" sz="2100" dirty="0"/>
          </a:p>
        </p:txBody>
      </p:sp>
      <p:sp>
        <p:nvSpPr>
          <p:cNvPr id="40" name="Text 36"/>
          <p:cNvSpPr/>
          <p:nvPr/>
        </p:nvSpPr>
        <p:spPr>
          <a:xfrm>
            <a:off x="9458325" y="3770561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 cards, imagery, latest content, responsive layout.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13354050" y="2908548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2" name="Shape 38"/>
          <p:cNvSpPr/>
          <p:nvPr/>
        </p:nvSpPr>
        <p:spPr>
          <a:xfrm>
            <a:off x="13363575" y="2918073"/>
            <a:ext cx="3962400" cy="38100"/>
          </a:xfrm>
          <a:prstGeom prst="rect">
            <a:avLst/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3" name="Text 39"/>
          <p:cNvSpPr/>
          <p:nvPr/>
        </p:nvSpPr>
        <p:spPr>
          <a:xfrm>
            <a:off x="13592175" y="3070473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M04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13592175" y="3399086"/>
            <a:ext cx="36103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Program detail &amp; episodes</a:t>
            </a:r>
            <a:endParaRPr lang="en-US" sz="2100" dirty="0"/>
          </a:p>
        </p:txBody>
      </p:sp>
      <p:sp>
        <p:nvSpPr>
          <p:cNvPr id="45" name="Text 41"/>
          <p:cNvSpPr/>
          <p:nvPr/>
        </p:nvSpPr>
        <p:spPr>
          <a:xfrm>
            <a:off x="13592175" y="4103936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Synopsis, seasons and ordered episode collection.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952500" y="4982245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7" name="Shape 43"/>
          <p:cNvSpPr/>
          <p:nvPr/>
        </p:nvSpPr>
        <p:spPr>
          <a:xfrm>
            <a:off x="962025" y="4991770"/>
            <a:ext cx="3962400" cy="38100"/>
          </a:xfrm>
          <a:prstGeom prst="rect">
            <a:avLst/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8" name="Text 44"/>
          <p:cNvSpPr/>
          <p:nvPr/>
        </p:nvSpPr>
        <p:spPr>
          <a:xfrm>
            <a:off x="1190625" y="5144170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M05</a:t>
            </a:r>
            <a:endParaRPr lang="en-US" sz="1800" dirty="0"/>
          </a:p>
        </p:txBody>
      </p:sp>
      <p:sp>
        <p:nvSpPr>
          <p:cNvPr id="49" name="Text 45"/>
          <p:cNvSpPr/>
          <p:nvPr/>
        </p:nvSpPr>
        <p:spPr>
          <a:xfrm>
            <a:off x="1190625" y="5472782"/>
            <a:ext cx="3855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Shorts discovery</a:t>
            </a:r>
            <a:endParaRPr lang="en-US" sz="2100" dirty="0"/>
          </a:p>
        </p:txBody>
      </p:sp>
      <p:sp>
        <p:nvSpPr>
          <p:cNvPr id="50" name="Text 46"/>
          <p:cNvSpPr/>
          <p:nvPr/>
        </p:nvSpPr>
        <p:spPr>
          <a:xfrm>
            <a:off x="1190625" y="5844257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Portrait-friendly cards and in-site viewing.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5086350" y="4982245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52" name="Shape 48"/>
          <p:cNvSpPr/>
          <p:nvPr/>
        </p:nvSpPr>
        <p:spPr>
          <a:xfrm>
            <a:off x="5095875" y="4991770"/>
            <a:ext cx="3962400" cy="38100"/>
          </a:xfrm>
          <a:prstGeom prst="rect">
            <a:avLst/>
          </a:prstGeom>
          <a:solidFill>
            <a:srgbClr val="3F97CF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3" name="Text 49"/>
          <p:cNvSpPr/>
          <p:nvPr/>
        </p:nvSpPr>
        <p:spPr>
          <a:xfrm>
            <a:off x="5324475" y="5144170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M06</a:t>
            </a:r>
            <a:endParaRPr lang="en-US" sz="1800" dirty="0"/>
          </a:p>
        </p:txBody>
      </p:sp>
      <p:sp>
        <p:nvSpPr>
          <p:cNvPr id="54" name="Text 50"/>
          <p:cNvSpPr/>
          <p:nvPr/>
        </p:nvSpPr>
        <p:spPr>
          <a:xfrm>
            <a:off x="5324475" y="5472782"/>
            <a:ext cx="3855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On-site player</a:t>
            </a:r>
            <a:endParaRPr lang="en-US" sz="2100" dirty="0"/>
          </a:p>
        </p:txBody>
      </p:sp>
      <p:sp>
        <p:nvSpPr>
          <p:cNvPr id="55" name="Text 51"/>
          <p:cNvSpPr/>
          <p:nvPr/>
        </p:nvSpPr>
        <p:spPr>
          <a:xfrm>
            <a:off x="5324475" y="5844257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Responsive playback, standard controls, error states.</a:t>
            </a:r>
            <a:endParaRPr lang="en-US" sz="1800" dirty="0"/>
          </a:p>
        </p:txBody>
      </p:sp>
      <p:sp>
        <p:nvSpPr>
          <p:cNvPr id="56" name="Shape 52"/>
          <p:cNvSpPr/>
          <p:nvPr/>
        </p:nvSpPr>
        <p:spPr>
          <a:xfrm>
            <a:off x="9220200" y="4982245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57" name="Shape 53"/>
          <p:cNvSpPr/>
          <p:nvPr/>
        </p:nvSpPr>
        <p:spPr>
          <a:xfrm>
            <a:off x="9229725" y="4991770"/>
            <a:ext cx="3962400" cy="381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8" name="Text 54"/>
          <p:cNvSpPr/>
          <p:nvPr/>
        </p:nvSpPr>
        <p:spPr>
          <a:xfrm>
            <a:off x="9458325" y="5144170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M07</a:t>
            </a:r>
            <a:endParaRPr lang="en-US" sz="1800" dirty="0"/>
          </a:p>
        </p:txBody>
      </p:sp>
      <p:sp>
        <p:nvSpPr>
          <p:cNvPr id="59" name="Text 55"/>
          <p:cNvSpPr/>
          <p:nvPr/>
        </p:nvSpPr>
        <p:spPr>
          <a:xfrm>
            <a:off x="9458325" y="5472782"/>
            <a:ext cx="3855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Article video placements</a:t>
            </a:r>
            <a:endParaRPr lang="en-US" sz="2100" dirty="0"/>
          </a:p>
        </p:txBody>
      </p:sp>
      <p:sp>
        <p:nvSpPr>
          <p:cNvPr id="60" name="Text 56"/>
          <p:cNvSpPr/>
          <p:nvPr/>
        </p:nvSpPr>
        <p:spPr>
          <a:xfrm>
            <a:off x="9458325" y="5844257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Editors attach relevant shorts or episodes to stories.</a:t>
            </a:r>
            <a:endParaRPr lang="en-US" sz="1800" dirty="0"/>
          </a:p>
        </p:txBody>
      </p:sp>
      <p:sp>
        <p:nvSpPr>
          <p:cNvPr id="61" name="Shape 57"/>
          <p:cNvSpPr/>
          <p:nvPr/>
        </p:nvSpPr>
        <p:spPr>
          <a:xfrm>
            <a:off x="13354050" y="4982245"/>
            <a:ext cx="3981450" cy="1921297"/>
          </a:xfrm>
          <a:prstGeom prst="roundRect">
            <a:avLst>
              <a:gd name="adj" fmla="val 10907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62" name="Shape 58"/>
          <p:cNvSpPr/>
          <p:nvPr/>
        </p:nvSpPr>
        <p:spPr>
          <a:xfrm>
            <a:off x="13363575" y="4991770"/>
            <a:ext cx="3962400" cy="381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3" name="Text 59"/>
          <p:cNvSpPr/>
          <p:nvPr/>
        </p:nvSpPr>
        <p:spPr>
          <a:xfrm>
            <a:off x="13592175" y="5144170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M08</a:t>
            </a:r>
            <a:endParaRPr lang="en-US" sz="1800" dirty="0"/>
          </a:p>
        </p:txBody>
      </p:sp>
      <p:sp>
        <p:nvSpPr>
          <p:cNvPr id="64" name="Text 60"/>
          <p:cNvSpPr/>
          <p:nvPr/>
        </p:nvSpPr>
        <p:spPr>
          <a:xfrm>
            <a:off x="13592175" y="5472782"/>
            <a:ext cx="36103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Related content &amp; sharing</a:t>
            </a:r>
            <a:endParaRPr lang="en-US" sz="2100" dirty="0"/>
          </a:p>
        </p:txBody>
      </p:sp>
      <p:sp>
        <p:nvSpPr>
          <p:cNvPr id="65" name="Text 61"/>
          <p:cNvSpPr/>
          <p:nvPr/>
        </p:nvSpPr>
        <p:spPr>
          <a:xfrm>
            <a:off x="13592175" y="6177632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and related videos, program links, share controls.</a:t>
            </a:r>
            <a:endParaRPr lang="en-US" sz="1800" dirty="0"/>
          </a:p>
        </p:txBody>
      </p:sp>
      <p:sp>
        <p:nvSpPr>
          <p:cNvPr id="66" name="Shape 62"/>
          <p:cNvSpPr/>
          <p:nvPr/>
        </p:nvSpPr>
        <p:spPr>
          <a:xfrm>
            <a:off x="952500" y="7055941"/>
            <a:ext cx="3981450" cy="1921371"/>
          </a:xfrm>
          <a:prstGeom prst="roundRect">
            <a:avLst>
              <a:gd name="adj" fmla="val 1090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Immersive vertical shorts</a:t>
            </a:r>
            <a:endParaRPr lang="en-US" dirty="0"/>
          </a:p>
          <a:p>
            <a:endParaRPr lang="en-QA" dirty="0"/>
          </a:p>
        </p:txBody>
      </p:sp>
      <p:sp>
        <p:nvSpPr>
          <p:cNvPr id="67" name="Shape 63"/>
          <p:cNvSpPr/>
          <p:nvPr/>
        </p:nvSpPr>
        <p:spPr>
          <a:xfrm>
            <a:off x="962025" y="7065466"/>
            <a:ext cx="3962400" cy="381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8" name="Text 64"/>
          <p:cNvSpPr/>
          <p:nvPr/>
        </p:nvSpPr>
        <p:spPr>
          <a:xfrm>
            <a:off x="1190625" y="7217866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M09</a:t>
            </a:r>
            <a:endParaRPr lang="en-US" sz="1800" dirty="0"/>
          </a:p>
        </p:txBody>
      </p:sp>
      <p:sp>
        <p:nvSpPr>
          <p:cNvPr id="71" name="Shape 67"/>
          <p:cNvSpPr/>
          <p:nvPr/>
        </p:nvSpPr>
        <p:spPr>
          <a:xfrm>
            <a:off x="5086350" y="7055941"/>
            <a:ext cx="3981450" cy="1921371"/>
          </a:xfrm>
          <a:prstGeom prst="roundRect">
            <a:avLst>
              <a:gd name="adj" fmla="val 1090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72" name="Shape 68"/>
          <p:cNvSpPr/>
          <p:nvPr/>
        </p:nvSpPr>
        <p:spPr>
          <a:xfrm>
            <a:off x="5095875" y="7065466"/>
            <a:ext cx="3962400" cy="381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3" name="Text 69"/>
          <p:cNvSpPr/>
          <p:nvPr/>
        </p:nvSpPr>
        <p:spPr>
          <a:xfrm>
            <a:off x="5324475" y="7217866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M10</a:t>
            </a:r>
            <a:endParaRPr lang="en-US" sz="1800" dirty="0"/>
          </a:p>
        </p:txBody>
      </p:sp>
      <p:sp>
        <p:nvSpPr>
          <p:cNvPr id="76" name="Shape 72"/>
          <p:cNvSpPr/>
          <p:nvPr/>
        </p:nvSpPr>
        <p:spPr>
          <a:xfrm>
            <a:off x="9220200" y="7055941"/>
            <a:ext cx="3981450" cy="1921371"/>
          </a:xfrm>
          <a:prstGeom prst="roundRect">
            <a:avLst>
              <a:gd name="adj" fmla="val 1090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77" name="Shape 73"/>
          <p:cNvSpPr/>
          <p:nvPr/>
        </p:nvSpPr>
        <p:spPr>
          <a:xfrm>
            <a:off x="9229725" y="7065466"/>
            <a:ext cx="3962400" cy="381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8" name="Text 74"/>
          <p:cNvSpPr/>
          <p:nvPr/>
        </p:nvSpPr>
        <p:spPr>
          <a:xfrm>
            <a:off x="9458325" y="7217866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M11</a:t>
            </a:r>
            <a:endParaRPr lang="en-US" sz="1800" dirty="0"/>
          </a:p>
        </p:txBody>
      </p:sp>
      <p:sp>
        <p:nvSpPr>
          <p:cNvPr id="79" name="Text 75"/>
          <p:cNvSpPr/>
          <p:nvPr/>
        </p:nvSpPr>
        <p:spPr>
          <a:xfrm>
            <a:off x="9458325" y="7546479"/>
            <a:ext cx="361035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Analytics &amp; controlled pilot</a:t>
            </a:r>
            <a:endParaRPr lang="en-US" sz="2100" dirty="0"/>
          </a:p>
        </p:txBody>
      </p:sp>
      <p:sp>
        <p:nvSpPr>
          <p:cNvPr id="80" name="Text 76"/>
          <p:cNvSpPr/>
          <p:nvPr/>
        </p:nvSpPr>
        <p:spPr>
          <a:xfrm>
            <a:off x="9458325" y="8251329"/>
            <a:ext cx="36103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impressions, starts, watch depth and site impact.</a:t>
            </a:r>
            <a:endParaRPr lang="en-US" sz="1800" dirty="0"/>
          </a:p>
        </p:txBody>
      </p:sp>
      <p:sp>
        <p:nvSpPr>
          <p:cNvPr id="81" name="Shape 77"/>
          <p:cNvSpPr/>
          <p:nvPr/>
        </p:nvSpPr>
        <p:spPr>
          <a:xfrm>
            <a:off x="13354050" y="7055941"/>
            <a:ext cx="3981450" cy="1921371"/>
          </a:xfrm>
          <a:prstGeom prst="roundRect">
            <a:avLst>
              <a:gd name="adj" fmla="val 10906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82" name="Shape 78"/>
          <p:cNvSpPr/>
          <p:nvPr/>
        </p:nvSpPr>
        <p:spPr>
          <a:xfrm>
            <a:off x="13363575" y="7065466"/>
            <a:ext cx="3962400" cy="381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3" name="Text 79"/>
          <p:cNvSpPr/>
          <p:nvPr/>
        </p:nvSpPr>
        <p:spPr>
          <a:xfrm>
            <a:off x="13592175" y="7217866"/>
            <a:ext cx="3855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M12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12382500" y="-2286000"/>
            <a:ext cx="6667500" cy="6667500"/>
          </a:xfrm>
          <a:prstGeom prst="ellipse">
            <a:avLst/>
          </a:prstGeom>
          <a:solidFill>
            <a:srgbClr val="3F97CF">
              <a:alpha val="3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-2095500" y="6096000"/>
            <a:ext cx="5905500" cy="5905500"/>
          </a:xfrm>
          <a:prstGeom prst="ellipse">
            <a:avLst/>
          </a:prstGeom>
          <a:solidFill>
            <a:srgbClr val="3F97CD">
              <a:alpha val="2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-571500" y="7239000"/>
            <a:ext cx="619125" cy="6191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904875" y="7419975"/>
            <a:ext cx="361950" cy="3619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1866900" y="7239000"/>
            <a:ext cx="733425" cy="74295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904875" y="8210550"/>
            <a:ext cx="742950" cy="7334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1866900" y="8210550"/>
            <a:ext cx="733425" cy="7334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323850" y="8591550"/>
            <a:ext cx="361950" cy="3524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-571500" y="9144000"/>
            <a:ext cx="1257300" cy="74295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904875" y="9144000"/>
            <a:ext cx="742950" cy="7429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2238375" y="9144000"/>
            <a:ext cx="361950" cy="3619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866900" y="9677400"/>
            <a:ext cx="733425" cy="74295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904875" y="10058400"/>
            <a:ext cx="361950" cy="36195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80941" y="604838"/>
            <a:ext cx="64035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ROADMAP · NOT APPROVED SCOPE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/ 11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52500" y="1428750"/>
            <a:ext cx="14716125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After MVP: 12 opportunities to prioritise from evidence</a:t>
            </a:r>
            <a:endParaRPr lang="en-US" sz="4800" dirty="0"/>
          </a:p>
        </p:txBody>
      </p:sp>
      <p:sp>
        <p:nvSpPr>
          <p:cNvPr id="22" name="Shape 18"/>
          <p:cNvSpPr/>
          <p:nvPr/>
        </p:nvSpPr>
        <p:spPr>
          <a:xfrm>
            <a:off x="952500" y="3137148"/>
            <a:ext cx="16383000" cy="2615505"/>
          </a:xfrm>
          <a:prstGeom prst="roundRect">
            <a:avLst>
              <a:gd name="adj" fmla="val 10925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dash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3" name="Text 19"/>
          <p:cNvSpPr/>
          <p:nvPr/>
        </p:nvSpPr>
        <p:spPr>
          <a:xfrm>
            <a:off x="1285875" y="3432423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3F97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VIEWER EXPERIENCE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285875" y="3937248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25" name="Text 21"/>
          <p:cNvSpPr/>
          <p:nvPr/>
        </p:nvSpPr>
        <p:spPr>
          <a:xfrm>
            <a:off x="1485900" y="4133924"/>
            <a:ext cx="5007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P01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2062832" y="4118223"/>
            <a:ext cx="290677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Personalized discovery</a:t>
            </a:r>
            <a:endParaRPr lang="en-US" sz="1950" dirty="0"/>
          </a:p>
        </p:txBody>
      </p:sp>
      <p:sp>
        <p:nvSpPr>
          <p:cNvPr id="27" name="Shape 23"/>
          <p:cNvSpPr/>
          <p:nvPr/>
        </p:nvSpPr>
        <p:spPr>
          <a:xfrm>
            <a:off x="6575375" y="3937248"/>
            <a:ext cx="5137175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28" name="Text 24"/>
          <p:cNvSpPr/>
          <p:nvPr/>
        </p:nvSpPr>
        <p:spPr>
          <a:xfrm>
            <a:off x="6775400" y="4133924"/>
            <a:ext cx="5473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P02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7398990" y="4118223"/>
            <a:ext cx="235670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 watching</a:t>
            </a:r>
            <a:endParaRPr lang="en-US" sz="1950" dirty="0"/>
          </a:p>
        </p:txBody>
      </p:sp>
      <p:sp>
        <p:nvSpPr>
          <p:cNvPr id="30" name="Shape 26"/>
          <p:cNvSpPr/>
          <p:nvPr/>
        </p:nvSpPr>
        <p:spPr>
          <a:xfrm>
            <a:off x="11864950" y="3937248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1" name="Text 27"/>
          <p:cNvSpPr/>
          <p:nvPr/>
        </p:nvSpPr>
        <p:spPr>
          <a:xfrm>
            <a:off x="12064975" y="4133924"/>
            <a:ext cx="5474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P03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2688639" y="4118223"/>
            <a:ext cx="315708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programs &amp; alerts</a:t>
            </a:r>
            <a:endParaRPr lang="en-US" sz="1950" dirty="0"/>
          </a:p>
        </p:txBody>
      </p:sp>
      <p:sp>
        <p:nvSpPr>
          <p:cNvPr id="33" name="Shape 29"/>
          <p:cNvSpPr/>
          <p:nvPr/>
        </p:nvSpPr>
        <p:spPr>
          <a:xfrm>
            <a:off x="1285875" y="4773513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4" name="Text 30"/>
          <p:cNvSpPr/>
          <p:nvPr/>
        </p:nvSpPr>
        <p:spPr>
          <a:xfrm>
            <a:off x="1485900" y="4970190"/>
            <a:ext cx="55661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P04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2118717" y="4954488"/>
            <a:ext cx="323509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endParaRPr lang="en-US" sz="1950" dirty="0"/>
          </a:p>
        </p:txBody>
      </p:sp>
      <p:sp>
        <p:nvSpPr>
          <p:cNvPr id="36" name="Shape 32"/>
          <p:cNvSpPr/>
          <p:nvPr/>
        </p:nvSpPr>
        <p:spPr>
          <a:xfrm>
            <a:off x="6575375" y="4773513"/>
            <a:ext cx="5137175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37" name="Text 33"/>
          <p:cNvSpPr/>
          <p:nvPr/>
        </p:nvSpPr>
        <p:spPr>
          <a:xfrm>
            <a:off x="6775400" y="4970190"/>
            <a:ext cx="5502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P05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7401818" y="4954488"/>
            <a:ext cx="359542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Autoplay next / smart queue</a:t>
            </a:r>
            <a:endParaRPr lang="en-US" sz="1950" dirty="0"/>
          </a:p>
        </p:txBody>
      </p:sp>
      <p:sp>
        <p:nvSpPr>
          <p:cNvPr id="39" name="Shape 35"/>
          <p:cNvSpPr/>
          <p:nvPr/>
        </p:nvSpPr>
        <p:spPr>
          <a:xfrm>
            <a:off x="11864950" y="4773513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40" name="Text 36"/>
          <p:cNvSpPr/>
          <p:nvPr/>
        </p:nvSpPr>
        <p:spPr>
          <a:xfrm>
            <a:off x="12064975" y="4970190"/>
            <a:ext cx="5600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97C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P06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12701215" y="4954488"/>
            <a:ext cx="291380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 video search</a:t>
            </a:r>
            <a:endParaRPr lang="en-US" sz="1950" dirty="0"/>
          </a:p>
        </p:txBody>
      </p:sp>
      <p:sp>
        <p:nvSpPr>
          <p:cNvPr id="42" name="Shape 38"/>
          <p:cNvSpPr/>
          <p:nvPr/>
        </p:nvSpPr>
        <p:spPr>
          <a:xfrm>
            <a:off x="952500" y="6095554"/>
            <a:ext cx="16383000" cy="2615505"/>
          </a:xfrm>
          <a:prstGeom prst="roundRect">
            <a:avLst>
              <a:gd name="adj" fmla="val 10925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dash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3" name="Text 39"/>
          <p:cNvSpPr/>
          <p:nvPr/>
        </p:nvSpPr>
        <p:spPr>
          <a:xfrm>
            <a:off x="1285875" y="6390829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D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EDITORIAL INTELLIGENCE &amp; GROWTH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1285875" y="6895654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45" name="Text 41"/>
          <p:cNvSpPr/>
          <p:nvPr/>
        </p:nvSpPr>
        <p:spPr>
          <a:xfrm>
            <a:off x="1485900" y="7092330"/>
            <a:ext cx="5418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P07</a:t>
            </a:r>
            <a:endParaRPr lang="en-US" sz="1800" dirty="0"/>
          </a:p>
        </p:txBody>
      </p:sp>
      <p:sp>
        <p:nvSpPr>
          <p:cNvPr id="46" name="Text 42"/>
          <p:cNvSpPr/>
          <p:nvPr/>
        </p:nvSpPr>
        <p:spPr>
          <a:xfrm>
            <a:off x="2103909" y="7076629"/>
            <a:ext cx="432270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article recommendations</a:t>
            </a:r>
            <a:endParaRPr lang="en-US" sz="1950" dirty="0"/>
          </a:p>
        </p:txBody>
      </p:sp>
      <p:sp>
        <p:nvSpPr>
          <p:cNvPr id="47" name="Shape 43"/>
          <p:cNvSpPr/>
          <p:nvPr/>
        </p:nvSpPr>
        <p:spPr>
          <a:xfrm>
            <a:off x="6575375" y="6895654"/>
            <a:ext cx="5137175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48" name="Text 44"/>
          <p:cNvSpPr/>
          <p:nvPr/>
        </p:nvSpPr>
        <p:spPr>
          <a:xfrm>
            <a:off x="6775400" y="7092330"/>
            <a:ext cx="5555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P08</a:t>
            </a:r>
            <a:endParaRPr lang="en-US" sz="1800" dirty="0"/>
          </a:p>
        </p:txBody>
      </p:sp>
      <p:sp>
        <p:nvSpPr>
          <p:cNvPr id="49" name="Text 45"/>
          <p:cNvSpPr/>
          <p:nvPr/>
        </p:nvSpPr>
        <p:spPr>
          <a:xfrm>
            <a:off x="7407101" y="7076629"/>
            <a:ext cx="343604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transcripts &amp; translation</a:t>
            </a:r>
            <a:endParaRPr lang="en-US" sz="1950" dirty="0"/>
          </a:p>
        </p:txBody>
      </p:sp>
      <p:sp>
        <p:nvSpPr>
          <p:cNvPr id="50" name="Shape 46"/>
          <p:cNvSpPr/>
          <p:nvPr/>
        </p:nvSpPr>
        <p:spPr>
          <a:xfrm>
            <a:off x="11864950" y="6895654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51" name="Text 47"/>
          <p:cNvSpPr/>
          <p:nvPr/>
        </p:nvSpPr>
        <p:spPr>
          <a:xfrm>
            <a:off x="12064975" y="7092330"/>
            <a:ext cx="5600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P09</a:t>
            </a:r>
            <a:endParaRPr lang="en-US" sz="1800" dirty="0"/>
          </a:p>
        </p:txBody>
      </p:sp>
      <p:sp>
        <p:nvSpPr>
          <p:cNvPr id="52" name="Text 48"/>
          <p:cNvSpPr/>
          <p:nvPr/>
        </p:nvSpPr>
        <p:spPr>
          <a:xfrm>
            <a:off x="12701215" y="7076629"/>
            <a:ext cx="244887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Player convenience</a:t>
            </a:r>
            <a:endParaRPr lang="en-US" sz="1950" dirty="0"/>
          </a:p>
        </p:txBody>
      </p:sp>
      <p:sp>
        <p:nvSpPr>
          <p:cNvPr id="53" name="Shape 49"/>
          <p:cNvSpPr/>
          <p:nvPr/>
        </p:nvSpPr>
        <p:spPr>
          <a:xfrm>
            <a:off x="1285875" y="7731919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54" name="Text 50"/>
          <p:cNvSpPr/>
          <p:nvPr/>
        </p:nvSpPr>
        <p:spPr>
          <a:xfrm>
            <a:off x="1485900" y="7928595"/>
            <a:ext cx="5007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P10</a:t>
            </a:r>
            <a:endParaRPr lang="en-US" sz="1800" dirty="0"/>
          </a:p>
        </p:txBody>
      </p:sp>
      <p:sp>
        <p:nvSpPr>
          <p:cNvPr id="55" name="Text 51"/>
          <p:cNvSpPr/>
          <p:nvPr/>
        </p:nvSpPr>
        <p:spPr>
          <a:xfrm>
            <a:off x="2062832" y="7912894"/>
            <a:ext cx="324417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 advertising formats</a:t>
            </a:r>
            <a:endParaRPr lang="en-US" sz="1950" dirty="0"/>
          </a:p>
        </p:txBody>
      </p:sp>
      <p:sp>
        <p:nvSpPr>
          <p:cNvPr id="56" name="Shape 52"/>
          <p:cNvSpPr/>
          <p:nvPr/>
        </p:nvSpPr>
        <p:spPr>
          <a:xfrm>
            <a:off x="6575375" y="7731919"/>
            <a:ext cx="5137175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57" name="Text 53"/>
          <p:cNvSpPr/>
          <p:nvPr/>
        </p:nvSpPr>
        <p:spPr>
          <a:xfrm>
            <a:off x="6775400" y="7928595"/>
            <a:ext cx="4241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P11</a:t>
            </a:r>
            <a:endParaRPr lang="en-US" sz="1800" dirty="0"/>
          </a:p>
        </p:txBody>
      </p:sp>
      <p:sp>
        <p:nvSpPr>
          <p:cNvPr id="58" name="Text 54"/>
          <p:cNvSpPr/>
          <p:nvPr/>
        </p:nvSpPr>
        <p:spPr>
          <a:xfrm>
            <a:off x="7275761" y="7912894"/>
            <a:ext cx="306450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Experiments &amp; targeting</a:t>
            </a:r>
            <a:endParaRPr lang="en-US" sz="1950" dirty="0"/>
          </a:p>
        </p:txBody>
      </p:sp>
      <p:sp>
        <p:nvSpPr>
          <p:cNvPr id="59" name="Shape 55"/>
          <p:cNvSpPr/>
          <p:nvPr/>
        </p:nvSpPr>
        <p:spPr>
          <a:xfrm>
            <a:off x="11864950" y="7731919"/>
            <a:ext cx="5137100" cy="683865"/>
          </a:xfrm>
          <a:prstGeom prst="roundRect">
            <a:avLst>
              <a:gd name="adj" fmla="val 250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60" name="Text 56"/>
          <p:cNvSpPr/>
          <p:nvPr/>
        </p:nvSpPr>
        <p:spPr>
          <a:xfrm>
            <a:off x="12064975" y="7928595"/>
            <a:ext cx="470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3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P12</a:t>
            </a:r>
            <a:endParaRPr lang="en-US" sz="1800" dirty="0"/>
          </a:p>
        </p:txBody>
      </p:sp>
      <p:sp>
        <p:nvSpPr>
          <p:cNvPr id="61" name="Text 57"/>
          <p:cNvSpPr/>
          <p:nvPr/>
        </p:nvSpPr>
        <p:spPr>
          <a:xfrm>
            <a:off x="12611993" y="7912894"/>
            <a:ext cx="353255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CMS/platform consolidation</a:t>
            </a:r>
            <a:endParaRPr lang="en-US" sz="1950" dirty="0"/>
          </a:p>
        </p:txBody>
      </p:sp>
      <p:sp>
        <p:nvSpPr>
          <p:cNvPr id="62" name="Text 58"/>
          <p:cNvSpPr/>
          <p:nvPr/>
        </p:nvSpPr>
        <p:spPr>
          <a:xfrm>
            <a:off x="952500" y="9205913"/>
            <a:ext cx="382502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PRIORITISATION RULE ·</a:t>
            </a:r>
            <a:endParaRPr lang="en-US" sz="1950" dirty="0"/>
          </a:p>
        </p:txBody>
      </p:sp>
      <p:sp>
        <p:nvSpPr>
          <p:cNvPr id="63" name="Text 59"/>
          <p:cNvSpPr/>
          <p:nvPr/>
        </p:nvSpPr>
        <p:spPr>
          <a:xfrm>
            <a:off x="4429795" y="9205913"/>
            <a:ext cx="1148342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>
                    <a:alpha val="7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 post-MVP items using viewing data, editorial effort and cost, not design appeal alone.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10953750" y="-1905000"/>
            <a:ext cx="7239000" cy="7239000"/>
          </a:xfrm>
          <a:prstGeom prst="ellipse">
            <a:avLst/>
          </a:prstGeom>
          <a:solidFill>
            <a:srgbClr val="FFD300">
              <a:alpha val="2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-2095500" y="5334000"/>
            <a:ext cx="7239000" cy="7239000"/>
          </a:xfrm>
          <a:prstGeom prst="ellipse">
            <a:avLst/>
          </a:prstGeom>
          <a:solidFill>
            <a:srgbClr val="3F97CD">
              <a:alpha val="45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13525500" y="5334000"/>
            <a:ext cx="819150" cy="819150"/>
          </a:xfrm>
          <a:prstGeom prst="rect">
            <a:avLst/>
          </a:prstGeom>
          <a:solidFill>
            <a:srgbClr val="3F97CD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15487650" y="5581650"/>
            <a:ext cx="485775" cy="48577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16783050" y="5334000"/>
            <a:ext cx="971550" cy="990600"/>
          </a:xfrm>
          <a:prstGeom prst="rect">
            <a:avLst/>
          </a:prstGeom>
          <a:solidFill>
            <a:srgbClr val="FFD300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5487650" y="6629400"/>
            <a:ext cx="990600" cy="971550"/>
          </a:xfrm>
          <a:prstGeom prst="rect">
            <a:avLst/>
          </a:prstGeom>
          <a:solidFill>
            <a:srgbClr val="3F97CD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16783050" y="6629400"/>
            <a:ext cx="971550" cy="9715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4725650" y="7134225"/>
            <a:ext cx="485775" cy="4762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13525500" y="7877175"/>
            <a:ext cx="1676400" cy="990600"/>
          </a:xfrm>
          <a:prstGeom prst="rect">
            <a:avLst/>
          </a:prstGeom>
          <a:solidFill>
            <a:srgbClr val="FFD300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15487650" y="7877175"/>
            <a:ext cx="990600" cy="990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17278350" y="7877175"/>
            <a:ext cx="485775" cy="48577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6783050" y="8591550"/>
            <a:ext cx="971550" cy="990600"/>
          </a:xfrm>
          <a:prstGeom prst="rect">
            <a:avLst/>
          </a:prstGeom>
          <a:solidFill>
            <a:srgbClr val="3F97CD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5487650" y="9086850"/>
            <a:ext cx="485775" cy="485775"/>
          </a:xfrm>
          <a:prstGeom prst="rect">
            <a:avLst/>
          </a:prstGeom>
          <a:solidFill>
            <a:srgbClr val="FFD300">
              <a:alpha val="12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80941" y="604838"/>
            <a:ext cx="33589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· LATER PHASE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/ 11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52500" y="1428750"/>
            <a:ext cx="1571625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rebrand is planned for a later phase</a:t>
            </a:r>
            <a:endParaRPr lang="en-US" sz="4800" dirty="0"/>
          </a:p>
        </p:txBody>
      </p:sp>
      <p:sp>
        <p:nvSpPr>
          <p:cNvPr id="22" name="Text 18"/>
          <p:cNvSpPr/>
          <p:nvPr/>
        </p:nvSpPr>
        <p:spPr>
          <a:xfrm>
            <a:off x="952500" y="3117875"/>
            <a:ext cx="73683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MVP LAUNCHES UNDER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52500" y="3641750"/>
            <a:ext cx="6698456" cy="1924050"/>
          </a:xfrm>
          <a:prstGeom prst="roundRect">
            <a:avLst>
              <a:gd name="adj" fmla="val 13861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351" y="3984650"/>
            <a:ext cx="2418680" cy="123825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52500" y="5794400"/>
            <a:ext cx="6698456" cy="1924050"/>
          </a:xfrm>
          <a:prstGeom prst="roundRect">
            <a:avLst>
              <a:gd name="adj" fmla="val 13861"/>
            </a:avLst>
          </a:prstGeom>
          <a:solidFill>
            <a:schemeClr val="bg1"/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7" name="Shape 21"/>
          <p:cNvSpPr/>
          <p:nvPr/>
        </p:nvSpPr>
        <p:spPr>
          <a:xfrm>
            <a:off x="7879556" y="5640596"/>
            <a:ext cx="1524000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40000"/>
                </a:srgbClr>
              </a:gs>
              <a:gs pos="100000">
                <a:srgbClr val="FFD3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28" name="Shape 22"/>
          <p:cNvSpPr/>
          <p:nvPr/>
        </p:nvSpPr>
        <p:spPr>
          <a:xfrm>
            <a:off x="9270206" y="5535821"/>
            <a:ext cx="190500" cy="266700"/>
          </a:xfrm>
          <a:prstGeom prst="rect">
            <a:avLst/>
          </a:prstGeom>
          <a:solidFill>
            <a:srgbClr val="FFD30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9" name="Text 23"/>
          <p:cNvSpPr/>
          <p:nvPr/>
        </p:nvSpPr>
        <p:spPr>
          <a:xfrm>
            <a:off x="9632156" y="2746400"/>
            <a:ext cx="84735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D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LATER PHASE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632156" y="3270275"/>
            <a:ext cx="7703269" cy="4819650"/>
          </a:xfrm>
          <a:prstGeom prst="roundRect">
            <a:avLst>
              <a:gd name="adj" fmla="val 6324"/>
            </a:avLst>
          </a:prstGeom>
          <a:gradFill rotWithShape="1">
            <a:gsLst>
              <a:gs pos="0">
                <a:srgbClr val="FFFFFF">
                  <a:alpha val="16000"/>
                </a:srgbClr>
              </a:gs>
              <a:gs pos="100000">
                <a:srgbClr val="3F97CD">
                  <a:alpha val="12000"/>
                </a:srgbClr>
              </a:gs>
            </a:gsLst>
            <a:lin ang="3300000" scaled="0"/>
          </a:gradFill>
          <a:ln w="9525">
            <a:solidFill>
              <a:srgbClr val="FFD300">
                <a:alpha val="40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 dirty="0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597AE9F-26A0-53BC-0659-B788B603D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5378" y="6026150"/>
            <a:ext cx="2908300" cy="1422400"/>
          </a:xfrm>
          <a:prstGeom prst="rect">
            <a:avLst/>
          </a:prstGeom>
        </p:spPr>
      </p:pic>
      <p:sp>
        <p:nvSpPr>
          <p:cNvPr id="35" name="Text 17">
            <a:extLst>
              <a:ext uri="{FF2B5EF4-FFF2-40B4-BE49-F238E27FC236}">
                <a16:creationId xmlns:a16="http://schemas.microsoft.com/office/drawing/2014/main" id="{2A3D09EE-9C5C-640D-6769-934479ABB78D}"/>
              </a:ext>
            </a:extLst>
          </p:cNvPr>
          <p:cNvSpPr/>
          <p:nvPr/>
        </p:nvSpPr>
        <p:spPr>
          <a:xfrm>
            <a:off x="12929376" y="5280171"/>
            <a:ext cx="1121316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TBD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386">
                  <a:alpha val="100000"/>
                </a:srgbClr>
              </a:gs>
              <a:gs pos="40000">
                <a:srgbClr val="052B5B">
                  <a:alpha val="100000"/>
                </a:srgbClr>
              </a:gs>
              <a:gs pos="100000">
                <a:srgbClr val="031A3A">
                  <a:alpha val="100000"/>
                </a:srgbClr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Shape 1"/>
          <p:cNvSpPr/>
          <p:nvPr/>
        </p:nvSpPr>
        <p:spPr>
          <a:xfrm>
            <a:off x="11430000" y="-2476500"/>
            <a:ext cx="7429500" cy="7429500"/>
          </a:xfrm>
          <a:prstGeom prst="ellipse">
            <a:avLst/>
          </a:prstGeom>
          <a:solidFill>
            <a:srgbClr val="3F97CD">
              <a:alpha val="5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4" name="Shape 2"/>
          <p:cNvSpPr/>
          <p:nvPr/>
        </p:nvSpPr>
        <p:spPr>
          <a:xfrm>
            <a:off x="-1905000" y="5334000"/>
            <a:ext cx="6667500" cy="6667500"/>
          </a:xfrm>
          <a:prstGeom prst="ellipse">
            <a:avLst/>
          </a:prstGeom>
          <a:solidFill>
            <a:srgbClr val="FFD300">
              <a:alpha val="32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5" name="Shape 3"/>
          <p:cNvSpPr/>
          <p:nvPr/>
        </p:nvSpPr>
        <p:spPr>
          <a:xfrm>
            <a:off x="6667500" y="7620000"/>
            <a:ext cx="4953000" cy="4953000"/>
          </a:xfrm>
          <a:prstGeom prst="ellipse">
            <a:avLst/>
          </a:prstGeom>
          <a:solidFill>
            <a:srgbClr val="3F97C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6" name="Shape 4"/>
          <p:cNvSpPr/>
          <p:nvPr/>
        </p:nvSpPr>
        <p:spPr>
          <a:xfrm>
            <a:off x="-762000" y="-571500"/>
            <a:ext cx="514350" cy="51435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Shape 5"/>
          <p:cNvSpPr/>
          <p:nvPr/>
        </p:nvSpPr>
        <p:spPr>
          <a:xfrm>
            <a:off x="466725" y="-419100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1276350" y="-571500"/>
            <a:ext cx="609600" cy="619125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466725" y="238125"/>
            <a:ext cx="619125" cy="609600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1276350" y="238125"/>
            <a:ext cx="609600" cy="609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Shape 9"/>
          <p:cNvSpPr/>
          <p:nvPr/>
        </p:nvSpPr>
        <p:spPr>
          <a:xfrm>
            <a:off x="-9525" y="552450"/>
            <a:ext cx="304800" cy="2952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2" name="Shape 10"/>
          <p:cNvSpPr/>
          <p:nvPr/>
        </p:nvSpPr>
        <p:spPr>
          <a:xfrm>
            <a:off x="-762000" y="1019175"/>
            <a:ext cx="1047750" cy="619125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3" name="Shape 11"/>
          <p:cNvSpPr/>
          <p:nvPr/>
        </p:nvSpPr>
        <p:spPr>
          <a:xfrm>
            <a:off x="466725" y="1019175"/>
            <a:ext cx="619125" cy="6191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1581150" y="1019175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1276350" y="1466850"/>
            <a:ext cx="609600" cy="619125"/>
          </a:xfrm>
          <a:prstGeom prst="rect">
            <a:avLst/>
          </a:prstGeom>
          <a:solidFill>
            <a:srgbClr val="3F97CD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Shape 14"/>
          <p:cNvSpPr/>
          <p:nvPr/>
        </p:nvSpPr>
        <p:spPr>
          <a:xfrm>
            <a:off x="466725" y="1781175"/>
            <a:ext cx="304800" cy="304800"/>
          </a:xfrm>
          <a:prstGeom prst="rect">
            <a:avLst/>
          </a:prstGeom>
          <a:solidFill>
            <a:srgbClr val="FFD300">
              <a:alpha val="8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3400"/>
            <a:ext cx="855836" cy="4381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998836" y="590550"/>
            <a:ext cx="9525" cy="3238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861" y="590550"/>
            <a:ext cx="1091580" cy="3238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80941" y="604838"/>
            <a:ext cx="32684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DECISION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578932" y="604838"/>
            <a:ext cx="8327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6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52500" y="1428750"/>
            <a:ext cx="1571625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43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Approve a scoped MVP, then scale on evidence</a:t>
            </a:r>
            <a:endParaRPr lang="en-US" sz="4800" dirty="0"/>
          </a:p>
        </p:txBody>
      </p:sp>
      <p:sp>
        <p:nvSpPr>
          <p:cNvPr id="23" name="Shape 19"/>
          <p:cNvSpPr/>
          <p:nvPr/>
        </p:nvSpPr>
        <p:spPr>
          <a:xfrm>
            <a:off x="952500" y="2492499"/>
            <a:ext cx="6909941" cy="6356226"/>
          </a:xfrm>
          <a:prstGeom prst="roundRect">
            <a:avLst>
              <a:gd name="adj" fmla="val 5095"/>
            </a:avLst>
          </a:prstGeom>
          <a:gradFill rotWithShape="1">
            <a:gsLst>
              <a:gs pos="0">
                <a:srgbClr val="FFD300">
                  <a:alpha val="22000"/>
                </a:srgbClr>
              </a:gs>
              <a:gs pos="60000">
                <a:srgbClr val="D92D20">
                  <a:alpha val="10000"/>
                </a:srgbClr>
              </a:gs>
              <a:gs pos="100000">
                <a:srgbClr val="FFFFFF">
                  <a:alpha val="3000"/>
                </a:srgbClr>
              </a:gs>
            </a:gsLst>
            <a:lin ang="3300000" scaled="0"/>
          </a:gradFill>
          <a:ln w="9525">
            <a:solidFill>
              <a:srgbClr val="FFD300">
                <a:alpha val="45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4" name="Text 20"/>
          <p:cNvSpPr/>
          <p:nvPr/>
        </p:nvSpPr>
        <p:spPr>
          <a:xfrm>
            <a:off x="1438275" y="2959224"/>
            <a:ext cx="65322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FFD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REQUESTED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438275" y="3464049"/>
            <a:ext cx="6116543" cy="2022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026"/>
              </a:lnSpc>
              <a:buNone/>
            </a:pPr>
            <a:r>
              <a:rPr lang="en-US" sz="4650" b="1" kern="0" spc="-93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Authorise MVP design and development.</a:t>
            </a:r>
            <a:endParaRPr lang="en-US" sz="4650" dirty="0"/>
          </a:p>
        </p:txBody>
      </p:sp>
      <p:sp>
        <p:nvSpPr>
          <p:cNvPr id="26" name="Text 22"/>
          <p:cNvSpPr/>
          <p:nvPr/>
        </p:nvSpPr>
        <p:spPr>
          <a:xfrm>
            <a:off x="1438275" y="5657776"/>
            <a:ext cx="611654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Conditional on technical feasibility, engineering sizing and agreed release criteria.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1438275" y="7696200"/>
            <a:ext cx="6116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2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 of MVP: </a:t>
            </a: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subscriptions, accounts, full OTT rebuild, CMS migration.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414891" y="2778249"/>
            <a:ext cx="28575" cy="5784726"/>
          </a:xfrm>
          <a:prstGeom prst="rect">
            <a:avLst/>
          </a:prstGeom>
          <a:gradFill rotWithShape="1">
            <a:gsLst>
              <a:gs pos="0">
                <a:srgbClr val="FFD300">
                  <a:alpha val="100000"/>
                </a:srgbClr>
              </a:gs>
              <a:gs pos="50000">
                <a:srgbClr val="3F97CF">
                  <a:alpha val="100000"/>
                </a:srgbClr>
              </a:gs>
              <a:gs pos="100000">
                <a:srgbClr val="7FC4EE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QA"/>
          </a:p>
        </p:txBody>
      </p:sp>
      <p:sp>
        <p:nvSpPr>
          <p:cNvPr id="29" name="Shape 25"/>
          <p:cNvSpPr/>
          <p:nvPr/>
        </p:nvSpPr>
        <p:spPr>
          <a:xfrm>
            <a:off x="8776841" y="2492499"/>
            <a:ext cx="8558585" cy="1460450"/>
          </a:xfrm>
          <a:prstGeom prst="roundRect">
            <a:avLst>
              <a:gd name="adj" fmla="val 15653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0" name="Shape 26"/>
          <p:cNvSpPr/>
          <p:nvPr/>
        </p:nvSpPr>
        <p:spPr>
          <a:xfrm>
            <a:off x="8329166" y="3117949"/>
            <a:ext cx="266700" cy="266700"/>
          </a:xfrm>
          <a:prstGeom prst="ellipse">
            <a:avLst/>
          </a:prstGeom>
          <a:solidFill>
            <a:srgbClr val="031A3A"/>
          </a:solidFill>
          <a:ln w="28575">
            <a:solidFill>
              <a:srgbClr val="FFD300"/>
            </a:solidFill>
            <a:prstDash val="solid"/>
          </a:ln>
          <a:effectLst>
            <a:outerShdw blurRad="171450" dist="50800" dir="16200000" algn="bl" rotWithShape="0">
              <a:srgbClr val="FFD300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1" name="Text 27"/>
          <p:cNvSpPr/>
          <p:nvPr/>
        </p:nvSpPr>
        <p:spPr>
          <a:xfrm>
            <a:off x="9072116" y="2958405"/>
            <a:ext cx="57499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>
                    <a:alpha val="3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3300" dirty="0"/>
          </a:p>
        </p:txBody>
      </p:sp>
      <p:sp>
        <p:nvSpPr>
          <p:cNvPr id="32" name="Text 28"/>
          <p:cNvSpPr/>
          <p:nvPr/>
        </p:nvSpPr>
        <p:spPr>
          <a:xfrm>
            <a:off x="9818563" y="2865090"/>
            <a:ext cx="56810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DISCOVER</a:t>
            </a:r>
            <a:endParaRPr lang="en-US" sz="2250" dirty="0"/>
          </a:p>
        </p:txBody>
      </p:sp>
      <p:sp>
        <p:nvSpPr>
          <p:cNvPr id="33" name="Text 29"/>
          <p:cNvSpPr/>
          <p:nvPr/>
        </p:nvSpPr>
        <p:spPr>
          <a:xfrm>
            <a:off x="9818563" y="3260378"/>
            <a:ext cx="568101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Player, rights, CMS/feed, analytics and effort sizing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8776841" y="4124399"/>
            <a:ext cx="8558585" cy="1460525"/>
          </a:xfrm>
          <a:prstGeom prst="roundRect">
            <a:avLst>
              <a:gd name="adj" fmla="val 15652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5" name="Shape 31"/>
          <p:cNvSpPr/>
          <p:nvPr/>
        </p:nvSpPr>
        <p:spPr>
          <a:xfrm>
            <a:off x="8329166" y="4749850"/>
            <a:ext cx="266700" cy="266700"/>
          </a:xfrm>
          <a:prstGeom prst="ellipse">
            <a:avLst/>
          </a:prstGeom>
          <a:solidFill>
            <a:srgbClr val="031A3A"/>
          </a:solidFill>
          <a:ln w="28575">
            <a:solidFill>
              <a:srgbClr val="FFD300"/>
            </a:solidFill>
            <a:prstDash val="solid"/>
          </a:ln>
          <a:effectLst>
            <a:outerShdw blurRad="171450" dist="50800" dir="16200000" algn="bl" rotWithShape="0">
              <a:srgbClr val="FFD300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36" name="Text 32"/>
          <p:cNvSpPr/>
          <p:nvPr/>
        </p:nvSpPr>
        <p:spPr>
          <a:xfrm>
            <a:off x="9072116" y="4590306"/>
            <a:ext cx="66049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>
                    <a:alpha val="3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3300" dirty="0"/>
          </a:p>
        </p:txBody>
      </p:sp>
      <p:sp>
        <p:nvSpPr>
          <p:cNvPr id="37" name="Text 33"/>
          <p:cNvSpPr/>
          <p:nvPr/>
        </p:nvSpPr>
        <p:spPr>
          <a:xfrm>
            <a:off x="9904065" y="4496991"/>
            <a:ext cx="574789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</a:t>
            </a:r>
            <a:endParaRPr lang="en-US" sz="2250" dirty="0"/>
          </a:p>
        </p:txBody>
      </p:sp>
      <p:sp>
        <p:nvSpPr>
          <p:cNvPr id="38" name="Text 34"/>
          <p:cNvSpPr/>
          <p:nvPr/>
        </p:nvSpPr>
        <p:spPr>
          <a:xfrm>
            <a:off x="9904065" y="4892278"/>
            <a:ext cx="574789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Homepage, directory, articles, mobile and video UX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8776841" y="5756374"/>
            <a:ext cx="8558585" cy="1460450"/>
          </a:xfrm>
          <a:prstGeom prst="roundRect">
            <a:avLst>
              <a:gd name="adj" fmla="val 15653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0" name="Shape 36"/>
          <p:cNvSpPr/>
          <p:nvPr/>
        </p:nvSpPr>
        <p:spPr>
          <a:xfrm>
            <a:off x="8329166" y="6381824"/>
            <a:ext cx="266700" cy="266700"/>
          </a:xfrm>
          <a:prstGeom prst="ellipse">
            <a:avLst/>
          </a:prstGeom>
          <a:solidFill>
            <a:srgbClr val="031A3A"/>
          </a:solidFill>
          <a:ln w="28575">
            <a:solidFill>
              <a:srgbClr val="3F97CF"/>
            </a:solidFill>
            <a:prstDash val="solid"/>
          </a:ln>
          <a:effectLst>
            <a:outerShdw blurRad="171450" dist="50800" dir="16200000" algn="bl" rotWithShape="0">
              <a:srgbClr val="3F97CF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1" name="Text 37"/>
          <p:cNvSpPr/>
          <p:nvPr/>
        </p:nvSpPr>
        <p:spPr>
          <a:xfrm>
            <a:off x="9072116" y="6222281"/>
            <a:ext cx="66064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>
                    <a:alpha val="3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300" dirty="0"/>
          </a:p>
        </p:txBody>
      </p:sp>
      <p:sp>
        <p:nvSpPr>
          <p:cNvPr id="42" name="Text 38"/>
          <p:cNvSpPr/>
          <p:nvPr/>
        </p:nvSpPr>
        <p:spPr>
          <a:xfrm>
            <a:off x="9904214" y="6128965"/>
            <a:ext cx="603536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+ QA</a:t>
            </a:r>
            <a:endParaRPr lang="en-US" sz="2250" dirty="0"/>
          </a:p>
        </p:txBody>
      </p:sp>
      <p:sp>
        <p:nvSpPr>
          <p:cNvPr id="43" name="Text 39"/>
          <p:cNvSpPr/>
          <p:nvPr/>
        </p:nvSpPr>
        <p:spPr>
          <a:xfrm>
            <a:off x="9904214" y="6524253"/>
            <a:ext cx="603536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Integration, curation, responsive playback and events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8776841" y="7388275"/>
            <a:ext cx="8558585" cy="1460450"/>
          </a:xfrm>
          <a:prstGeom prst="roundRect">
            <a:avLst>
              <a:gd name="adj" fmla="val 15653"/>
            </a:avLst>
          </a:prstGeom>
          <a:gradFill rotWithShape="1">
            <a:gsLst>
              <a:gs pos="0">
                <a:srgbClr val="FFFFFF">
                  <a:alpha val="13000"/>
                </a:srgbClr>
              </a:gs>
              <a:gs pos="100000">
                <a:srgbClr val="FFFFFF">
                  <a:alpha val="3000"/>
                </a:srgbClr>
              </a:gs>
            </a:gsLst>
            <a:lin ang="2700000" scaled="0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5" name="Shape 41"/>
          <p:cNvSpPr/>
          <p:nvPr/>
        </p:nvSpPr>
        <p:spPr>
          <a:xfrm>
            <a:off x="8329166" y="8013725"/>
            <a:ext cx="266700" cy="266700"/>
          </a:xfrm>
          <a:prstGeom prst="ellipse">
            <a:avLst/>
          </a:prstGeom>
          <a:solidFill>
            <a:srgbClr val="031A3A"/>
          </a:solidFill>
          <a:ln w="28575">
            <a:solidFill>
              <a:srgbClr val="7FC4EE"/>
            </a:solidFill>
            <a:prstDash val="solid"/>
          </a:ln>
          <a:effectLst>
            <a:outerShdw blurRad="171450" dist="50800" dir="16200000" algn="bl" rotWithShape="0">
              <a:srgbClr val="7FC4EE">
                <a:alpha val="10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46" name="Text 42"/>
          <p:cNvSpPr/>
          <p:nvPr/>
        </p:nvSpPr>
        <p:spPr>
          <a:xfrm>
            <a:off x="9072116" y="7854181"/>
            <a:ext cx="67746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>
                    <a:alpha val="3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300" dirty="0"/>
          </a:p>
        </p:txBody>
      </p:sp>
      <p:sp>
        <p:nvSpPr>
          <p:cNvPr id="47" name="Text 43"/>
          <p:cNvSpPr/>
          <p:nvPr/>
        </p:nvSpPr>
        <p:spPr>
          <a:xfrm>
            <a:off x="9921032" y="7760866"/>
            <a:ext cx="61464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PILOT + DECIDE</a:t>
            </a:r>
            <a:endParaRPr lang="en-US" sz="2250" dirty="0"/>
          </a:p>
        </p:txBody>
      </p:sp>
      <p:sp>
        <p:nvSpPr>
          <p:cNvPr id="48" name="Text 44"/>
          <p:cNvSpPr/>
          <p:nvPr/>
        </p:nvSpPr>
        <p:spPr>
          <a:xfrm>
            <a:off x="9921032" y="8156153"/>
            <a:ext cx="61464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87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qualified viewing against news-site guardrails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1160</Words>
  <Application>Microsoft Macintosh PowerPoint</Application>
  <PresentationFormat>Custom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IBM Plex Sans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Momani</cp:lastModifiedBy>
  <cp:revision>2</cp:revision>
  <dcterms:created xsi:type="dcterms:W3CDTF">2026-10-12T06:58:51Z</dcterms:created>
  <dcterms:modified xsi:type="dcterms:W3CDTF">2026-10-12T12:32:27Z</dcterms:modified>
</cp:coreProperties>
</file>